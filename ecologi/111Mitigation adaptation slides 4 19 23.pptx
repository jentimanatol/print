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371" r:id="rId4"/>
    <p:sldId id="370" r:id="rId5"/>
    <p:sldId id="258" r:id="rId6"/>
    <p:sldId id="375" r:id="rId7"/>
    <p:sldId id="376" r:id="rId8"/>
    <p:sldId id="260" r:id="rId9"/>
    <p:sldId id="377" r:id="rId10"/>
    <p:sldId id="261" r:id="rId11"/>
    <p:sldId id="262" r:id="rId12"/>
    <p:sldId id="263" r:id="rId13"/>
    <p:sldId id="264" r:id="rId14"/>
    <p:sldId id="265" r:id="rId15"/>
    <p:sldId id="276" r:id="rId16"/>
    <p:sldId id="271" r:id="rId17"/>
    <p:sldId id="266" r:id="rId18"/>
    <p:sldId id="273" r:id="rId19"/>
    <p:sldId id="378" r:id="rId20"/>
    <p:sldId id="267" r:id="rId21"/>
    <p:sldId id="269" r:id="rId22"/>
    <p:sldId id="270" r:id="rId23"/>
    <p:sldId id="275" r:id="rId24"/>
    <p:sldId id="374" r:id="rId25"/>
    <p:sldId id="274" r:id="rId26"/>
    <p:sldId id="272" r:id="rId27"/>
    <p:sldId id="277" r:id="rId28"/>
    <p:sldId id="379" r:id="rId29"/>
    <p:sldId id="278" r:id="rId30"/>
    <p:sldId id="380" r:id="rId31"/>
    <p:sldId id="381" r:id="rId32"/>
    <p:sldId id="279" r:id="rId33"/>
    <p:sldId id="280" r:id="rId34"/>
    <p:sldId id="281" r:id="rId35"/>
    <p:sldId id="282" r:id="rId36"/>
    <p:sldId id="382" r:id="rId37"/>
    <p:sldId id="383" r:id="rId38"/>
    <p:sldId id="384" r:id="rId39"/>
    <p:sldId id="385" r:id="rId40"/>
    <p:sldId id="386" r:id="rId41"/>
    <p:sldId id="387" r:id="rId42"/>
    <p:sldId id="388" r:id="rId43"/>
    <p:sldId id="389" r:id="rId44"/>
    <p:sldId id="390" r:id="rId45"/>
    <p:sldId id="391" r:id="rId46"/>
    <p:sldId id="392" r:id="rId47"/>
    <p:sldId id="395" r:id="rId48"/>
    <p:sldId id="393" r:id="rId49"/>
    <p:sldId id="396" r:id="rId50"/>
    <p:sldId id="394" r:id="rId51"/>
    <p:sldId id="398" r:id="rId52"/>
    <p:sldId id="397" r:id="rId53"/>
    <p:sldId id="399" r:id="rId54"/>
    <p:sldId id="403" r:id="rId55"/>
    <p:sldId id="404" r:id="rId56"/>
    <p:sldId id="402" r:id="rId57"/>
    <p:sldId id="400" r:id="rId58"/>
    <p:sldId id="401" r:id="rId59"/>
    <p:sldId id="405" r:id="rId60"/>
    <p:sldId id="406" r:id="rId61"/>
    <p:sldId id="407" r:id="rId62"/>
    <p:sldId id="408" r:id="rId63"/>
    <p:sldId id="409" r:id="rId64"/>
    <p:sldId id="410" r:id="rId65"/>
    <p:sldId id="411" r:id="rId66"/>
    <p:sldId id="412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4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74901-EEEF-7443-8781-2C43B1CEBAB5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9C1BD-D650-7644-B084-55B6CAD88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Drives Adaptation or Resiliency</a:t>
            </a:r>
          </a:p>
          <a:p>
            <a:pPr lvl="1"/>
            <a:r>
              <a:rPr lang="en-US" dirty="0"/>
              <a:t>Individual, organizations, or governments</a:t>
            </a:r>
          </a:p>
          <a:p>
            <a:pPr lvl="1"/>
            <a:r>
              <a:rPr lang="en-US" dirty="0"/>
              <a:t>Governments –if home owners homes are at risk of increased flood damage, would they let their property value decrease or home be destroyed?</a:t>
            </a:r>
          </a:p>
          <a:p>
            <a:pPr lvl="2"/>
            <a:r>
              <a:rPr lang="en-US" dirty="0"/>
              <a:t>A homeowner can not build a seawall to prevent the flooding just to their own home but a community can build a seawall to prevent flooding to a neighborhood</a:t>
            </a:r>
          </a:p>
          <a:p>
            <a:pPr lvl="3"/>
            <a:r>
              <a:rPr lang="en-US" dirty="0"/>
              <a:t>Loss of property value and destruction would eventually lead to community collapse and only those too poor to move would be left, regardless of the damage or risk.</a:t>
            </a:r>
          </a:p>
          <a:p>
            <a:pPr lvl="3"/>
            <a:r>
              <a:rPr lang="en-US" dirty="0"/>
              <a:t>Beneficial to protect the community</a:t>
            </a:r>
          </a:p>
          <a:p>
            <a:pPr lvl="2"/>
            <a:r>
              <a:rPr lang="en-US" dirty="0"/>
              <a:t>Governments can both fund at a larger scale and organize at a larger scale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9C1BD-D650-7644-B084-55B6CAD886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07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9C1BD-D650-7644-B084-55B6CAD8864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3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9C1BD-D650-7644-B084-55B6CAD8864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4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9C1BD-D650-7644-B084-55B6CAD8864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C766-B867-95A6-C987-A22694E1E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83BD5-9A1E-56CB-08F3-142671964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B91B1-7827-7E01-8E65-7B6A59B1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49213-F3CE-BEE8-5413-FA8DF1C6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6C97-2C5A-D8F6-19A8-0972B3AA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5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148F-B2D4-C212-C39B-6F6495DB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3954-239C-E397-436F-47284896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93BB4-9B7F-D192-7D90-DF679CA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462F-ADCA-10F0-390C-53F9418B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D3C0-B760-DFF4-C1CC-4709CBAC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4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D06E-86AC-F1B3-5C93-CFEF694F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D2C91-A58A-39F1-B105-3DA610521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FE97-E423-1BE5-FCB0-4CF4D17D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611B0-BD76-51C5-2740-235E006E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3ED2E-FFD7-E89D-AACF-626FDADF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E534-92D9-060E-BCC5-2F088ABF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1D33F-3301-1459-D78A-34D8FBFED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7949E-07B3-E702-228B-12EBF7932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FD1B5-847F-A744-F29A-90337B9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25D6C-5A01-BBDA-9B71-50A8A69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A9DEE-BA9D-2DC9-F4C2-2A42F65A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1321-4CB6-0E8A-27CF-A323FBFD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8F16C-5C1E-C187-4CD1-23234618F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1A061-E996-4EF3-61AD-A7D4A9D62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6B8EB-E6EA-1260-C0A6-DBCAA38BA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4908F-3E7E-8FFB-AE5B-88D0CC1EC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EC277-9D0B-8939-9E93-08F91D30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476B5-07BD-E76B-B127-86909201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5A4A6F-CDBB-E93D-55E9-0F0BE871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8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D940-0585-4B38-541C-17081D26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B6D04-C265-543B-E39D-004AF004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9F149-931B-3573-9A63-A299D17C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6B74B-D98D-7E2B-6603-84AEE8DC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B28AA-8B04-A494-756B-C78AB386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D7EBB-B481-1AE6-394F-D0B66DF5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D8D6A-BF2C-21C2-9EAE-4E0D51E3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1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0AED-3F58-5784-39A4-0AE443DB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92F82-E920-5756-84FD-D68BB984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01269-19F9-7BEB-B9A8-F734D2E5A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89F3B-91DD-FF8B-158C-E7622689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123F3-0185-196D-0CB0-A0136F18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AE207-0258-C55B-3788-56452296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9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3259-32C7-2E8F-B72F-610EE7E0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26639-CF4B-5BED-6EAF-84E3E6C0E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219F3-347C-E1B0-DBBE-D20DCC5A4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24B98-12A5-50AA-E401-4BD90911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A9337-8F5A-76F4-793D-2C19FF9D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923B2-40BA-A83B-6840-64365B07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4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73C5-8E91-C9FE-7221-3BC34331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8A9B9-D081-5951-9B7F-E6E9AF70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7CC8-0EB9-5206-757E-E38CC91D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9F35-E0BD-92AE-4524-B971F454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7BAB6-7F77-2025-C6BA-C22083FE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5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73C7D-A766-7FCF-C244-21BED663B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F90B8-DECF-70BC-AA3D-97874FC7A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4A8BD-C1F3-5DBB-85FD-0A62E8B1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476-44C5-D270-4AB2-D2604EF4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2115-CFC0-4ABD-8432-C954646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7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43400"/>
            <a:ext cx="112776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56071" y="6315075"/>
            <a:ext cx="3879860" cy="209550"/>
          </a:xfrm>
        </p:spPr>
        <p:txBody>
          <a:bodyPr anchor="b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97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60FC1-24F8-2810-E765-BED2FF90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B6969-ACB7-AD69-018F-4F70E6ABB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BDBD2-8E0E-9F57-CBB0-3C5ADE0A6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FA35B-0D68-7742-9B6E-2A6FC77330AE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987DC-50DE-1DE3-2DE9-443D60973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1594-B7C2-6BC4-628F-4D8A0E0E0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490F3-0DB4-A544-B807-FE58AC918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7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ww.investopedia.com/terms/t/tax-break.asp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C456-462D-599A-5AAC-5F6977080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Mitigation and Adaptation to Climate Change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6FFF8-992E-B7E8-D3D6-3A80A651C2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0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8A83-F7D7-AE8B-CA67-5AAED550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address climate change?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61AE0-A863-38BF-AA57-202C8392B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Adaptation – Societies making mechanisms to prevent or deal with the </a:t>
            </a:r>
            <a:r>
              <a:rPr lang="en-US" i="1" dirty="0"/>
              <a:t>impacts </a:t>
            </a:r>
            <a:r>
              <a:rPr lang="en-US" dirty="0"/>
              <a:t>of climate change</a:t>
            </a:r>
          </a:p>
          <a:p>
            <a:pPr lvl="1"/>
            <a:r>
              <a:rPr lang="en-US" dirty="0"/>
              <a:t>Can not prevent actual climate change</a:t>
            </a:r>
          </a:p>
          <a:p>
            <a:pPr lvl="2"/>
            <a:r>
              <a:rPr lang="en-US" dirty="0"/>
              <a:t>Shoring up communities in ways that they may be vulnerable to climate change</a:t>
            </a:r>
          </a:p>
          <a:p>
            <a:pPr lvl="3"/>
            <a:r>
              <a:rPr lang="en-US" dirty="0"/>
              <a:t>Think on scale of individuals, organizations, communities, nations, international </a:t>
            </a:r>
          </a:p>
          <a:p>
            <a:r>
              <a:rPr lang="en-US" dirty="0"/>
              <a:t>Mitigation – Preventing emissions that cause climate change</a:t>
            </a:r>
          </a:p>
          <a:p>
            <a:endParaRPr lang="en-US" dirty="0"/>
          </a:p>
          <a:p>
            <a:r>
              <a:rPr lang="en-US" dirty="0"/>
              <a:t>Stabilization – A portfolio of policy driven approaches aimed at reaching a future climate target (2 degrees change)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68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554-EA65-468F-8139-4DA89F2E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>
                <a:ea typeface="ＭＳ Ｐゴシック" pitchFamily="34" charset="-128"/>
              </a:rPr>
              <a:t>Stabilization Wedges</a:t>
            </a:r>
            <a:endParaRPr lang="en-US" noProof="0" dirty="0"/>
          </a:p>
        </p:txBody>
      </p:sp>
      <p:pic>
        <p:nvPicPr>
          <p:cNvPr id="8" name="Picture 2" descr="A graph of past and projected carbon emissions shows the wedge analysis of how we could employ a number of approaches to slow and reduce emissions.">
            <a:extLst>
              <a:ext uri="{FF2B5EF4-FFF2-40B4-BE49-F238E27FC236}">
                <a16:creationId xmlns:a16="http://schemas.microsoft.com/office/drawing/2014/main" id="{7509528A-B6D9-4695-A8CC-757EC8F35E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86802" y="1190463"/>
            <a:ext cx="5239416" cy="459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B7175-C220-4096-B5E9-3C76ED5C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5624" y="5906814"/>
            <a:ext cx="1840752" cy="341586"/>
          </a:xfrm>
        </p:spPr>
        <p:txBody>
          <a:bodyPr>
            <a:normAutofit/>
          </a:bodyPr>
          <a:lstStyle/>
          <a:p>
            <a:pPr algn="ctr"/>
            <a:r>
              <a:rPr lang="en-US" altLang="en-US" sz="1800" b="1" dirty="0">
                <a:solidFill>
                  <a:srgbClr val="005782"/>
                </a:solidFill>
              </a:rPr>
              <a:t>FIGURE 15.34</a:t>
            </a:r>
          </a:p>
        </p:txBody>
      </p:sp>
    </p:spTree>
    <p:extLst>
      <p:ext uri="{BB962C8B-B14F-4D97-AF65-F5344CB8AC3E}">
        <p14:creationId xmlns:p14="http://schemas.microsoft.com/office/powerpoint/2010/main" val="215951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2D73-B3AA-497A-86E9-5551BDDA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304801"/>
            <a:ext cx="8639352" cy="678611"/>
          </a:xfrm>
        </p:spPr>
        <p:txBody>
          <a:bodyPr>
            <a:normAutofit/>
          </a:bodyPr>
          <a:lstStyle/>
          <a:p>
            <a:r>
              <a:rPr lang="en-US" altLang="en-US" noProof="0" dirty="0">
                <a:ea typeface="ＭＳ Ｐゴシック" pitchFamily="34" charset="-128"/>
              </a:rPr>
              <a:t>Stabilization Wedges Could Work Now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2E71-BA12-4DED-948C-A002B2B10E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09" y="983412"/>
            <a:ext cx="5963689" cy="467452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600" dirty="0">
                <a:ea typeface="ＭＳ Ｐゴシック" pitchFamily="34" charset="-128"/>
              </a:rPr>
              <a:t>By utilizing Wedge Analysis the problem of climate stabilization can be broken down into smaller, bite-sized pieces.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600" dirty="0">
                <a:ea typeface="ＭＳ Ｐゴシック" pitchFamily="34" charset="-128"/>
              </a:rPr>
              <a:t>Need to cut 7 G</a:t>
            </a:r>
            <a:r>
              <a:rPr lang="en-US" altLang="en-US" sz="100" dirty="0">
                <a:ea typeface="ＭＳ Ｐゴシック" pitchFamily="34" charset="-128"/>
              </a:rPr>
              <a:t> </a:t>
            </a:r>
            <a:r>
              <a:rPr lang="en-US" altLang="en-US" sz="2600" dirty="0">
                <a:ea typeface="ＭＳ Ｐゴシック" pitchFamily="34" charset="-128"/>
              </a:rPr>
              <a:t>T (gigatons) over the next 50 years to stabilize climate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ea typeface="ＭＳ Ｐゴシック" pitchFamily="34" charset="-128"/>
              </a:rPr>
              <a:t>Doubling vehicle efficiency, and halving the miles we drive would save up to 1.5 G</a:t>
            </a:r>
            <a:r>
              <a:rPr lang="en-US" altLang="en-US" sz="1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T.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ea typeface="ＭＳ Ｐゴシック" pitchFamily="34" charset="-128"/>
              </a:rPr>
              <a:t>Installing energy efficient appliances, lighting and insulating building could save another 2 G</a:t>
            </a:r>
            <a:r>
              <a:rPr lang="en-US" altLang="en-US" sz="1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T.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ea typeface="ＭＳ Ｐゴシック" pitchFamily="34" charset="-128"/>
              </a:rPr>
              <a:t>Capturing and storing carbon emissions from power plants and gas wells could save another G</a:t>
            </a:r>
            <a:r>
              <a:rPr lang="en-US" altLang="en-US" sz="100" dirty="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T.</a:t>
            </a:r>
          </a:p>
        </p:txBody>
      </p:sp>
      <p:pic>
        <p:nvPicPr>
          <p:cNvPr id="4" name="Picture 2" descr="A graph of past and projected carbon emissions shows the wedge analysis of how we could employ a number of approaches to slow and reduce emissions.">
            <a:extLst>
              <a:ext uri="{FF2B5EF4-FFF2-40B4-BE49-F238E27FC236}">
                <a16:creationId xmlns:a16="http://schemas.microsoft.com/office/drawing/2014/main" id="{1C36DEF9-7E59-3E45-1571-C6014A2A3F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1975" y="1340092"/>
            <a:ext cx="5239416" cy="459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16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AA4B-7298-0E80-EF50-F8296759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22D6-1855-912E-B13A-65B02177B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67377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change is unavoidable.  </a:t>
            </a:r>
          </a:p>
          <a:p>
            <a:r>
              <a:rPr lang="en-US" dirty="0"/>
              <a:t>We need to be able to make societies more resilient to what they will face</a:t>
            </a:r>
          </a:p>
          <a:p>
            <a:pPr lvl="1"/>
            <a:r>
              <a:rPr lang="en-US" dirty="0"/>
              <a:t>This is NOT evolutionary adaption (and that does not work the way you think it does, anyways!)</a:t>
            </a:r>
          </a:p>
          <a:p>
            <a:pPr lvl="1"/>
            <a:r>
              <a:rPr lang="en-US" dirty="0"/>
              <a:t>This is anticipating the vulnerabilities that places will suffer and trying to </a:t>
            </a:r>
            <a:r>
              <a:rPr lang="en-US" b="1" dirty="0">
                <a:solidFill>
                  <a:srgbClr val="FF0000"/>
                </a:solidFill>
              </a:rPr>
              <a:t>do things now to prevent that suffering later</a:t>
            </a:r>
          </a:p>
          <a:p>
            <a:pPr lvl="2"/>
            <a:r>
              <a:rPr lang="en-US" dirty="0"/>
              <a:t>Coastal erosion – laws to discourage or prevent building in vulnerable coastal areas, relocating people and infrastructure, protecting mangroves</a:t>
            </a:r>
          </a:p>
          <a:p>
            <a:pPr lvl="2"/>
            <a:r>
              <a:rPr lang="en-US" dirty="0"/>
              <a:t>Coastal Flooding – sea walls, building laws to force mechanical and electrical systems to be located on higher floors, pump systems, culverts and changes to roadways, moving people or infrastructure, evacuation planning</a:t>
            </a:r>
          </a:p>
          <a:p>
            <a:pPr lvl="2"/>
            <a:r>
              <a:rPr lang="en-US" dirty="0"/>
              <a:t>Agriculture shifts – planting drought resistant crops, not planting mono culture crops,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EC72F-1A4E-B38B-F806-5290E98AB0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1970" y="2430684"/>
            <a:ext cx="5011838" cy="248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5C98-004E-24EB-1096-DFCD78EC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1250-9A7E-2FBF-DFA7-F0757066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dapting to climate change impacts">
            <a:extLst>
              <a:ext uri="{FF2B5EF4-FFF2-40B4-BE49-F238E27FC236}">
                <a16:creationId xmlns:a16="http://schemas.microsoft.com/office/drawing/2014/main" id="{041B76CE-FA95-8911-184C-08AA068C6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1865" y="0"/>
            <a:ext cx="930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18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74CC-14E0-28FD-CCBF-05E99273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8F95-4E60-141C-4E15-40A136C5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8428" cy="4351338"/>
          </a:xfrm>
        </p:spPr>
        <p:txBody>
          <a:bodyPr/>
          <a:lstStyle/>
          <a:p>
            <a:r>
              <a:rPr lang="en-US" dirty="0"/>
              <a:t>Adaptive strategies benefit everyone no matter where they are applied</a:t>
            </a:r>
          </a:p>
          <a:p>
            <a:pPr lvl="1"/>
            <a:r>
              <a:rPr lang="en-US" dirty="0"/>
              <a:t>Let’s get back to our example of a state affected by a hurricane</a:t>
            </a:r>
          </a:p>
          <a:p>
            <a:pPr lvl="1"/>
            <a:r>
              <a:rPr lang="en-US" dirty="0"/>
              <a:t>There is a massive economic loss and impact from storm damage to major populated areas that effects the whole country</a:t>
            </a:r>
          </a:p>
        </p:txBody>
      </p:sp>
      <p:pic>
        <p:nvPicPr>
          <p:cNvPr id="3074" name="Picture 2" descr="(Getty; Illustration by The Real Deal)">
            <a:extLst>
              <a:ext uri="{FF2B5EF4-FFF2-40B4-BE49-F238E27FC236}">
                <a16:creationId xmlns:a16="http://schemas.microsoft.com/office/drawing/2014/main" id="{0ED9C4DF-4CF1-A80A-E080-3A35AF62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67645" y="1986987"/>
            <a:ext cx="4614441" cy="288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36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74CC-14E0-28FD-CCBF-05E99273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8F95-4E60-141C-4E15-40A136C5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324" cy="4351338"/>
          </a:xfrm>
        </p:spPr>
        <p:txBody>
          <a:bodyPr/>
          <a:lstStyle/>
          <a:p>
            <a:r>
              <a:rPr lang="en-US" dirty="0"/>
              <a:t>Adaptive strategies benefit everyone no matter where they are applied</a:t>
            </a:r>
          </a:p>
          <a:p>
            <a:pPr lvl="1"/>
            <a:r>
              <a:rPr lang="en-US" dirty="0"/>
              <a:t>Let’s get back to our example of the Nebraska corn farmer</a:t>
            </a:r>
          </a:p>
          <a:p>
            <a:pPr lvl="1"/>
            <a:r>
              <a:rPr lang="en-US" dirty="0"/>
              <a:t>There is a massive economic loss, food insecurity risk, and social upheaval risk of widespread crop failure that effects the whole globe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EC868-382F-8ABC-24DA-2909160B45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72132" y="578734"/>
            <a:ext cx="3981691" cy="3067292"/>
          </a:xfrm>
          <a:prstGeom prst="rect">
            <a:avLst/>
          </a:prstGeom>
        </p:spPr>
      </p:pic>
      <p:pic>
        <p:nvPicPr>
          <p:cNvPr id="4098" name="Picture 2" descr="The Dust Bowl | National Endowment for the Humanities (NEH)">
            <a:extLst>
              <a:ext uri="{FF2B5EF4-FFF2-40B4-BE49-F238E27FC236}">
                <a16:creationId xmlns:a16="http://schemas.microsoft.com/office/drawing/2014/main" id="{78CE01D0-1101-F919-3DD6-76DF1A7E8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72133" y="3975904"/>
            <a:ext cx="4062714" cy="270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41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74CC-14E0-28FD-CCBF-05E99273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8F95-4E60-141C-4E15-40A136C5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324" cy="4351338"/>
          </a:xfrm>
        </p:spPr>
        <p:txBody>
          <a:bodyPr>
            <a:normAutofit/>
          </a:bodyPr>
          <a:lstStyle/>
          <a:p>
            <a:r>
              <a:rPr lang="en-US" dirty="0"/>
              <a:t>Example: Dust Bowl 1931-1939 Midwestern USA</a:t>
            </a:r>
          </a:p>
          <a:p>
            <a:pPr lvl="1"/>
            <a:r>
              <a:rPr lang="en-US" dirty="0"/>
              <a:t>Extended drought</a:t>
            </a:r>
          </a:p>
          <a:p>
            <a:pPr lvl="1"/>
            <a:r>
              <a:rPr lang="en-US" dirty="0"/>
              <a:t>unusually high temperatures</a:t>
            </a:r>
          </a:p>
          <a:p>
            <a:pPr lvl="1"/>
            <a:r>
              <a:rPr lang="en-US" dirty="0"/>
              <a:t>poor agricultural practices </a:t>
            </a:r>
          </a:p>
          <a:p>
            <a:pPr lvl="1"/>
            <a:r>
              <a:rPr lang="en-US" dirty="0"/>
              <a:t>All led to wind erosion that made</a:t>
            </a:r>
          </a:p>
          <a:p>
            <a:pPr marL="457200" lvl="1" indent="0">
              <a:buNone/>
            </a:pPr>
            <a:r>
              <a:rPr lang="en-US" dirty="0"/>
              <a:t>the Dust Bowl.</a:t>
            </a:r>
          </a:p>
          <a:p>
            <a:pPr marL="0" indent="0">
              <a:buNone/>
            </a:pPr>
            <a:r>
              <a:rPr lang="en-US" dirty="0"/>
              <a:t>-1/3 of all farmers lost their homes</a:t>
            </a:r>
          </a:p>
          <a:p>
            <a:pPr marL="0" indent="0">
              <a:buNone/>
            </a:pPr>
            <a:r>
              <a:rPr lang="en-US" dirty="0"/>
              <a:t>-Homeless, and jobless many migrated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EC868-382F-8ABC-24DA-2909160B45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72132" y="578734"/>
            <a:ext cx="3981691" cy="3067292"/>
          </a:xfrm>
          <a:prstGeom prst="rect">
            <a:avLst/>
          </a:prstGeom>
        </p:spPr>
      </p:pic>
      <p:pic>
        <p:nvPicPr>
          <p:cNvPr id="4098" name="Picture 2" descr="The Dust Bowl | National Endowment for the Humanities (NEH)">
            <a:extLst>
              <a:ext uri="{FF2B5EF4-FFF2-40B4-BE49-F238E27FC236}">
                <a16:creationId xmlns:a16="http://schemas.microsoft.com/office/drawing/2014/main" id="{78CE01D0-1101-F919-3DD6-76DF1A7E8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72133" y="3975904"/>
            <a:ext cx="4062714" cy="270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49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DFCE-D3BB-A8BE-5408-DAE61E7D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Government Policy for Adaptation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D873-7CFF-E100-6328-2CF582A5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Regulations – laws, statutes, codes</a:t>
            </a:r>
          </a:p>
          <a:p>
            <a:pPr lvl="1"/>
            <a:r>
              <a:rPr lang="en-US" dirty="0"/>
              <a:t>Building codes, flood insurance policy laws</a:t>
            </a:r>
          </a:p>
          <a:p>
            <a:r>
              <a:rPr lang="en-US" dirty="0"/>
              <a:t>Funding mechanisms for adaptation</a:t>
            </a:r>
          </a:p>
          <a:p>
            <a:pPr lvl="1"/>
            <a:r>
              <a:rPr lang="en-US" dirty="0"/>
              <a:t>Community grants, subsidies, tax incentives</a:t>
            </a:r>
          </a:p>
          <a:p>
            <a:r>
              <a:rPr lang="en-US" dirty="0"/>
              <a:t>Private – Public Partnerships</a:t>
            </a:r>
          </a:p>
          <a:p>
            <a:r>
              <a:rPr lang="en-US" dirty="0"/>
              <a:t>Information about Climate Change itself</a:t>
            </a:r>
          </a:p>
        </p:txBody>
      </p:sp>
    </p:spTree>
    <p:extLst>
      <p:ext uri="{BB962C8B-B14F-4D97-AF65-F5344CB8AC3E}">
        <p14:creationId xmlns:p14="http://schemas.microsoft.com/office/powerpoint/2010/main" val="331155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1E47-EBC8-9302-3AC1-42C22B37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 and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48ADE-A310-DE12-8731-F01154FCF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Resourced Communities and countries can adapt (to a certain extent)</a:t>
            </a:r>
          </a:p>
          <a:p>
            <a:pPr lvl="1"/>
            <a:r>
              <a:rPr lang="en-US" dirty="0"/>
              <a:t>At the higher end projections of future climate change, wealthy countries today wind up impoverished by the impacts of climate change</a:t>
            </a:r>
          </a:p>
          <a:p>
            <a:pPr lvl="1"/>
            <a:r>
              <a:rPr lang="en-US" dirty="0"/>
              <a:t>Climate change was caused by emissions from lifestyles and consumption from currently wealthy countries.</a:t>
            </a:r>
          </a:p>
          <a:p>
            <a:pPr lvl="2"/>
            <a:r>
              <a:rPr lang="en-US" dirty="0"/>
              <a:t>Built their wealth from activities that ultimately caused this problem</a:t>
            </a:r>
          </a:p>
          <a:p>
            <a:r>
              <a:rPr lang="en-US" dirty="0"/>
              <a:t>Poor countries can not adapt</a:t>
            </a:r>
          </a:p>
          <a:p>
            <a:pPr lvl="1"/>
            <a:r>
              <a:rPr lang="en-US" dirty="0"/>
              <a:t>Don’t have resources right now to meet the needs of their citizens, let alone the resources to deal with the effects of climate change. </a:t>
            </a:r>
          </a:p>
          <a:p>
            <a:pPr lvl="1"/>
            <a:r>
              <a:rPr lang="en-US" dirty="0"/>
              <a:t>Did not cause this problem</a:t>
            </a:r>
          </a:p>
          <a:p>
            <a:pPr lvl="2"/>
            <a:r>
              <a:rPr lang="en-US" dirty="0"/>
              <a:t>Advancing out of poverty for these countries means increase in consumption, increase in emissions. </a:t>
            </a:r>
          </a:p>
          <a:p>
            <a:pPr lvl="3"/>
            <a:r>
              <a:rPr lang="en-US" dirty="0"/>
              <a:t>These countries are tomorrow’s big GHG emitters</a:t>
            </a:r>
          </a:p>
          <a:p>
            <a:r>
              <a:rPr lang="en-US" dirty="0"/>
              <a:t>There is a moral issue with the inequity of adapting to climate change</a:t>
            </a:r>
          </a:p>
        </p:txBody>
      </p:sp>
    </p:spTree>
    <p:extLst>
      <p:ext uri="{BB962C8B-B14F-4D97-AF65-F5344CB8AC3E}">
        <p14:creationId xmlns:p14="http://schemas.microsoft.com/office/powerpoint/2010/main" val="48510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E9E4-93F7-DCDB-DBF2-DCF598B3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365125"/>
            <a:ext cx="10515600" cy="1325563"/>
          </a:xfrm>
        </p:spPr>
        <p:txBody>
          <a:bodyPr/>
          <a:lstStyle/>
          <a:p>
            <a:r>
              <a:rPr lang="en-US" dirty="0"/>
              <a:t>Example: Hurricane Katrina</a:t>
            </a:r>
          </a:p>
        </p:txBody>
      </p:sp>
      <p:pic>
        <p:nvPicPr>
          <p:cNvPr id="5124" name="Picture 4" descr="Hurricane Katrina: 9 years later - AOL.com">
            <a:extLst>
              <a:ext uri="{FF2B5EF4-FFF2-40B4-BE49-F238E27FC236}">
                <a16:creationId xmlns:a16="http://schemas.microsoft.com/office/drawing/2014/main" id="{0FFD78EA-03F3-5EA1-6F75-55DC6BA99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4919" y="427583"/>
            <a:ext cx="4123952" cy="285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urricane Katrina's Devastation in Photos - HISTORY">
            <a:extLst>
              <a:ext uri="{FF2B5EF4-FFF2-40B4-BE49-F238E27FC236}">
                <a16:creationId xmlns:a16="http://schemas.microsoft.com/office/drawing/2014/main" id="{D42AE458-B282-73ED-D630-18BA7FE9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42" y="2019521"/>
            <a:ext cx="6245184" cy="351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membering New Orleans chaos, 10 years after Katrina | Correspondent">
            <a:extLst>
              <a:ext uri="{FF2B5EF4-FFF2-40B4-BE49-F238E27FC236}">
                <a16:creationId xmlns:a16="http://schemas.microsoft.com/office/drawing/2014/main" id="{5B67CD51-9927-FF9E-DF52-D03D3348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0572" y="2768360"/>
            <a:ext cx="5856790" cy="406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02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E77C-E641-9E97-0151-14277D5B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the Inequity of Climate 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9E5F-0625-3E28-9A2E-88853BC2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716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Green Climate Fund</a:t>
            </a:r>
          </a:p>
          <a:p>
            <a:pPr lvl="1"/>
            <a:r>
              <a:rPr lang="en-US" dirty="0"/>
              <a:t>Set up by the United Nations</a:t>
            </a:r>
          </a:p>
          <a:p>
            <a:pPr lvl="1"/>
            <a:r>
              <a:rPr lang="en-US" dirty="0"/>
              <a:t>Agreed to as part of the Paris Climate Agreement</a:t>
            </a:r>
          </a:p>
          <a:p>
            <a:pPr lvl="2"/>
            <a:r>
              <a:rPr lang="en-US" dirty="0"/>
              <a:t>In 2019 both USA and Australia refused to pay into this</a:t>
            </a:r>
          </a:p>
          <a:p>
            <a:pPr lvl="2"/>
            <a:endParaRPr lang="en-US" dirty="0"/>
          </a:p>
          <a:p>
            <a:r>
              <a:rPr lang="en-US" dirty="0"/>
              <a:t>There is a moral responsibility to make adaptation equitable but if it fails, the world still suffers</a:t>
            </a:r>
          </a:p>
          <a:p>
            <a:pPr lvl="1"/>
            <a:r>
              <a:rPr lang="en-US" dirty="0"/>
              <a:t>Even the most wealthy nations will be impoverished by climate change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D6F9C-1192-6070-DB4C-50BFFB40C0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5362" y="2199189"/>
            <a:ext cx="5081287" cy="293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5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A5D9-1B2C-7A8C-1BAC-9DCC0688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03A1C-EBEB-354A-BA70-FB72E424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0716" cy="4351338"/>
          </a:xfrm>
        </p:spPr>
        <p:txBody>
          <a:bodyPr>
            <a:normAutofit/>
          </a:bodyPr>
          <a:lstStyle/>
          <a:p>
            <a:r>
              <a:rPr lang="en-US" dirty="0"/>
              <a:t>Reduce emissions</a:t>
            </a:r>
          </a:p>
          <a:p>
            <a:pPr lvl="1"/>
            <a:r>
              <a:rPr lang="en-US" dirty="0"/>
              <a:t>This is the center of climate change policy because relying on adaptation is risky</a:t>
            </a:r>
          </a:p>
          <a:p>
            <a:pPr lvl="1"/>
            <a:endParaRPr lang="en-US" dirty="0"/>
          </a:p>
          <a:p>
            <a:r>
              <a:rPr lang="en-US" dirty="0"/>
              <a:t>We are in a race</a:t>
            </a:r>
          </a:p>
          <a:p>
            <a:pPr lvl="1"/>
            <a:r>
              <a:rPr lang="en-US" dirty="0"/>
              <a:t>Rate of climate change and its impacts vs. our ability to mitigate and reverse course.</a:t>
            </a:r>
          </a:p>
          <a:p>
            <a:pPr marL="1371600" lvl="3" indent="0">
              <a:buNone/>
            </a:pPr>
            <a:endParaRPr lang="en-US" dirty="0"/>
          </a:p>
        </p:txBody>
      </p:sp>
      <p:pic>
        <p:nvPicPr>
          <p:cNvPr id="4" name="Picture 2" descr="A graph shows global average temperature change from 1900 to 2100.&#10;">
            <a:extLst>
              <a:ext uri="{FF2B5EF4-FFF2-40B4-BE49-F238E27FC236}">
                <a16:creationId xmlns:a16="http://schemas.microsoft.com/office/drawing/2014/main" id="{E2713549-BB36-BA98-5315-9DBF6EB0E9E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242069" y="1420225"/>
            <a:ext cx="5016783" cy="45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792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8C28-A9C9-6821-86A0-003C48CF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Emission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CDB81-E316-631F-CBBF-1CCDE2C2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8347" cy="4351338"/>
          </a:xfrm>
        </p:spPr>
        <p:txBody>
          <a:bodyPr/>
          <a:lstStyle/>
          <a:p>
            <a:r>
              <a:rPr lang="en-US" dirty="0"/>
              <a:t>How do we reduce emissions?</a:t>
            </a:r>
          </a:p>
          <a:p>
            <a:pPr lvl="1"/>
            <a:r>
              <a:rPr lang="en-US" dirty="0"/>
              <a:t>Focuses on how to move away from fossil fuels as the base of our energy generation and fuel</a:t>
            </a:r>
          </a:p>
          <a:p>
            <a:pPr lvl="2"/>
            <a:r>
              <a:rPr lang="en-US" dirty="0"/>
              <a:t>This is the largest contributor to climate change</a:t>
            </a:r>
          </a:p>
          <a:p>
            <a:pPr lvl="2"/>
            <a:r>
              <a:rPr lang="en-US" dirty="0"/>
              <a:t>Focusing on consumption is a non-starter, most people see consumption tied to well being</a:t>
            </a:r>
          </a:p>
          <a:p>
            <a:pPr lvl="2"/>
            <a:r>
              <a:rPr lang="en-US" dirty="0"/>
              <a:t>Focusing on reducing consumption at a large scale is a political no go – all politicians push for perpetual economic growth</a:t>
            </a:r>
          </a:p>
          <a:p>
            <a:endParaRPr lang="en-US" dirty="0"/>
          </a:p>
        </p:txBody>
      </p:sp>
      <p:pic>
        <p:nvPicPr>
          <p:cNvPr id="6146" name="Picture 2" descr="The plan to cut greenhouse gas emissions ... - SFGate">
            <a:extLst>
              <a:ext uri="{FF2B5EF4-FFF2-40B4-BE49-F238E27FC236}">
                <a16:creationId xmlns:a16="http://schemas.microsoft.com/office/drawing/2014/main" id="{97C2F240-9109-729C-4A22-EA51779C9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3741" y="1825625"/>
            <a:ext cx="5215748" cy="407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02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D442-071F-1477-47E2-69D1418D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Problem of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4B4A7-7975-87E3-F3D0-211D72C70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018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problem is all wrong!</a:t>
            </a:r>
          </a:p>
          <a:p>
            <a:pPr lvl="1"/>
            <a:r>
              <a:rPr lang="en-US" dirty="0"/>
              <a:t>The causes are global (can’t see my own effect) and over lifetimes</a:t>
            </a:r>
          </a:p>
          <a:p>
            <a:pPr lvl="1"/>
            <a:r>
              <a:rPr lang="en-US" dirty="0"/>
              <a:t>The effects are global and over lifetimes</a:t>
            </a:r>
          </a:p>
          <a:p>
            <a:pPr lvl="1"/>
            <a:r>
              <a:rPr lang="en-US" dirty="0"/>
              <a:t>The cost is massive today and doesn’t render a benefit for decades</a:t>
            </a:r>
          </a:p>
          <a:p>
            <a:pPr lvl="1"/>
            <a:endParaRPr lang="en-US" dirty="0"/>
          </a:p>
          <a:p>
            <a:r>
              <a:rPr lang="en-US" dirty="0"/>
              <a:t>With mitigation you pay now to benefit in the future</a:t>
            </a:r>
          </a:p>
          <a:p>
            <a:pPr lvl="1"/>
            <a:r>
              <a:rPr lang="en-US" dirty="0"/>
              <a:t>We would see benefits (if we actually did this) somewhere around 2050</a:t>
            </a:r>
          </a:p>
          <a:p>
            <a:pPr lvl="1"/>
            <a:r>
              <a:rPr lang="en-US" dirty="0"/>
              <a:t>Steep political challenge</a:t>
            </a:r>
          </a:p>
        </p:txBody>
      </p:sp>
      <p:pic>
        <p:nvPicPr>
          <p:cNvPr id="4" name="Picture 2" descr="The plan to cut greenhouse gas emissions ... - SFGate">
            <a:extLst>
              <a:ext uri="{FF2B5EF4-FFF2-40B4-BE49-F238E27FC236}">
                <a16:creationId xmlns:a16="http://schemas.microsoft.com/office/drawing/2014/main" id="{D637F4CB-CE21-1FAA-1283-3C5D5ED0B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72492" y="2204720"/>
            <a:ext cx="4287374" cy="334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75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E089-0A81-934B-9568-957D5D7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move away from fossil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1EE3A-66AD-E8A6-20FD-E843B450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6529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Move from one type of fossil fuel to a lower emitting fossil fuel</a:t>
            </a:r>
          </a:p>
          <a:p>
            <a:pPr lvl="1"/>
            <a:r>
              <a:rPr lang="en-US" dirty="0"/>
              <a:t>Coal -</a:t>
            </a:r>
            <a:r>
              <a:rPr lang="en-US" dirty="0">
                <a:sym typeface="Wingdings" pitchFamily="2" charset="2"/>
              </a:rPr>
              <a:t> Natural Gas (cuts 80% of emissions)</a:t>
            </a:r>
          </a:p>
          <a:p>
            <a:r>
              <a:rPr lang="en-US" dirty="0">
                <a:sym typeface="Wingdings" pitchFamily="2" charset="2"/>
              </a:rPr>
              <a:t>Move from fossil fuels to carbon free or net zero carbon emitting sources</a:t>
            </a:r>
          </a:p>
          <a:p>
            <a:pPr lvl="1"/>
            <a:r>
              <a:rPr lang="en-US" dirty="0">
                <a:sym typeface="Wingdings" pitchFamily="2" charset="2"/>
              </a:rPr>
              <a:t>Renewable Energy: Solar, Wind, Biofuels, Hydropower, Geothermal</a:t>
            </a:r>
          </a:p>
          <a:p>
            <a:pPr lvl="2"/>
            <a:r>
              <a:rPr lang="en-US" dirty="0">
                <a:sym typeface="Wingdings" pitchFamily="2" charset="2"/>
              </a:rPr>
              <a:t>Geothermal only generates electricity in a couple of places globally</a:t>
            </a:r>
          </a:p>
          <a:p>
            <a:pPr lvl="2"/>
            <a:r>
              <a:rPr lang="en-US" dirty="0">
                <a:sym typeface="Wingdings" pitchFamily="2" charset="2"/>
              </a:rPr>
              <a:t>Most rivers suitable for hydropower already have these dams, no where left to grow this</a:t>
            </a:r>
          </a:p>
          <a:p>
            <a:pPr lvl="1"/>
            <a:r>
              <a:rPr lang="en-US" dirty="0">
                <a:sym typeface="Wingdings" pitchFamily="2" charset="2"/>
              </a:rPr>
              <a:t>Clean but non renewable energy: Nuclear</a:t>
            </a:r>
          </a:p>
          <a:p>
            <a:pPr lvl="2"/>
            <a:r>
              <a:rPr lang="en-US" dirty="0">
                <a:sym typeface="Wingdings" pitchFamily="2" charset="2"/>
              </a:rPr>
              <a:t>Is MASSIVELY expensive, scary, and takes decades to site a plant due to opposition and cost</a:t>
            </a:r>
          </a:p>
          <a:p>
            <a:pPr lvl="3"/>
            <a:r>
              <a:rPr lang="en-US" dirty="0">
                <a:sym typeface="Wingdings" pitchFamily="2" charset="2"/>
              </a:rPr>
              <a:t>Basically takes too long and is too unfavorable to be a realistic solution </a:t>
            </a:r>
          </a:p>
          <a:p>
            <a:pPr lvl="3"/>
            <a:endParaRPr lang="en-US" dirty="0">
              <a:sym typeface="Wingdings" pitchFamily="2" charset="2"/>
            </a:endParaRPr>
          </a:p>
        </p:txBody>
      </p:sp>
      <p:pic>
        <p:nvPicPr>
          <p:cNvPr id="7170" name="Picture 2" descr="Electricity Generation Coal Vs Natural Gas - Microgrid Media">
            <a:extLst>
              <a:ext uri="{FF2B5EF4-FFF2-40B4-BE49-F238E27FC236}">
                <a16:creationId xmlns:a16="http://schemas.microsoft.com/office/drawing/2014/main" id="{A13DD4A6-E988-A262-7808-474BD2CC6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3545" y="1690688"/>
            <a:ext cx="4189071" cy="266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he Economics of Tapping Solar at Home – The Smart Home Decor">
            <a:extLst>
              <a:ext uri="{FF2B5EF4-FFF2-40B4-BE49-F238E27FC236}">
                <a16:creationId xmlns:a16="http://schemas.microsoft.com/office/drawing/2014/main" id="{CAF97DD2-B8C4-46CB-AF57-C62AC5844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4590" y="4509042"/>
            <a:ext cx="2907577" cy="278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29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34ED-9FB4-4069-B7EE-645818DB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energy efficiency?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7A7D2-C3A8-DCCB-6DCC-1FC7F5C4D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40% of the emissions we have are from built spaces</a:t>
            </a:r>
          </a:p>
          <a:p>
            <a:pPr lvl="1"/>
            <a:r>
              <a:rPr lang="en-US" dirty="0"/>
              <a:t>Using less energy cuts those emissions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Lighting</a:t>
            </a:r>
          </a:p>
          <a:p>
            <a:pPr lvl="1"/>
            <a:r>
              <a:rPr lang="en-US" dirty="0"/>
              <a:t>Heating</a:t>
            </a:r>
          </a:p>
          <a:p>
            <a:pPr lvl="1"/>
            <a:r>
              <a:rPr lang="en-US" dirty="0"/>
              <a:t>Air Conditioning </a:t>
            </a:r>
          </a:p>
          <a:p>
            <a:pPr lvl="1"/>
            <a:r>
              <a:rPr lang="en-US" dirty="0"/>
              <a:t>Plug loads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01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E089-0A81-934B-9568-957D5D7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Efficiency in transportation and buildings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1EE3A-66AD-E8A6-20FD-E843B450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6529" cy="4351338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itchFamily="2" charset="2"/>
              </a:rPr>
              <a:t>Energy Efficiency/Conservation</a:t>
            </a:r>
          </a:p>
          <a:p>
            <a:pPr lvl="1"/>
            <a:r>
              <a:rPr lang="en-US" dirty="0">
                <a:sym typeface="Wingdings" pitchFamily="2" charset="2"/>
              </a:rPr>
              <a:t>Doing the same thing, but using less energy</a:t>
            </a:r>
          </a:p>
          <a:p>
            <a:pPr lvl="1"/>
            <a:r>
              <a:rPr lang="en-US" dirty="0">
                <a:sym typeface="Wingdings" pitchFamily="2" charset="2"/>
              </a:rPr>
              <a:t>Not using energy at all</a:t>
            </a:r>
            <a:endParaRPr lang="en-US" dirty="0"/>
          </a:p>
          <a:p>
            <a:pPr marL="1371600" lvl="3" indent="0">
              <a:buNone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8194" name="Picture 2" descr="Image result for LEED">
            <a:extLst>
              <a:ext uri="{FF2B5EF4-FFF2-40B4-BE49-F238E27FC236}">
                <a16:creationId xmlns:a16="http://schemas.microsoft.com/office/drawing/2014/main" id="{11E258E9-6076-AD48-ED9E-C4051DCB3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7996" y="1352550"/>
            <a:ext cx="23241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 result for epa energy star">
            <a:extLst>
              <a:ext uri="{FF2B5EF4-FFF2-40B4-BE49-F238E27FC236}">
                <a16:creationId xmlns:a16="http://schemas.microsoft.com/office/drawing/2014/main" id="{45D031CA-2E95-1438-8FAF-6DDDEEADE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4821" y="1447800"/>
            <a:ext cx="25431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C9307F-10DB-199B-376C-770A7F92F2A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6766" y="3429000"/>
            <a:ext cx="4247909" cy="329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9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B4F75-C1B6-19C0-6580-E97F411A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Switch to Renewables</a:t>
            </a:r>
            <a:br>
              <a:rPr lang="en-US" dirty="0"/>
            </a:br>
            <a:r>
              <a:rPr lang="en-US" dirty="0"/>
              <a:t>Humans Use 15TW of Energy annually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51143-F0BA-C1C3-E0F8-0A907121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89071"/>
          </a:xfrm>
        </p:spPr>
        <p:txBody>
          <a:bodyPr/>
          <a:lstStyle/>
          <a:p>
            <a:r>
              <a:rPr lang="en-US" dirty="0"/>
              <a:t>Solar Energy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69912-0E63-68A5-0141-0BE7A1E7F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270234"/>
            <a:ext cx="5157787" cy="3684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 make 15TW of Energy we would need to cover 2% of earth in solar panels</a:t>
            </a:r>
          </a:p>
          <a:p>
            <a:r>
              <a:rPr lang="en-US" dirty="0"/>
              <a:t>This is about same area that is currently covered in cities</a:t>
            </a:r>
          </a:p>
          <a:p>
            <a:endParaRPr lang="en-US" dirty="0"/>
          </a:p>
          <a:p>
            <a:r>
              <a:rPr lang="en-US" dirty="0"/>
              <a:t>Solar is intermittent!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DEAB8-B250-9854-30B2-7BA7715AB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89071"/>
          </a:xfrm>
        </p:spPr>
        <p:txBody>
          <a:bodyPr/>
          <a:lstStyle/>
          <a:p>
            <a:r>
              <a:rPr lang="en-US" dirty="0"/>
              <a:t>Wind Energy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567DEB-C66E-9981-E036-BD98B9ADE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70234"/>
            <a:ext cx="5183188" cy="3684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 make 15TW of Energy we would need to install a few million wind turbines</a:t>
            </a:r>
          </a:p>
          <a:p>
            <a:r>
              <a:rPr lang="en-US" dirty="0"/>
              <a:t>The best place for these are often offshore</a:t>
            </a:r>
          </a:p>
          <a:p>
            <a:r>
              <a:rPr lang="en-US" dirty="0"/>
              <a:t>These don’t interfere with using the land for other things</a:t>
            </a:r>
          </a:p>
          <a:p>
            <a:endParaRPr lang="en-US" dirty="0"/>
          </a:p>
          <a:p>
            <a:r>
              <a:rPr lang="en-US" dirty="0"/>
              <a:t>Wind is intermittent!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53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03C70C-6182-E880-6A05-3F502B76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The Solar Power Duck Curve Explained">
            <a:extLst>
              <a:ext uri="{FF2B5EF4-FFF2-40B4-BE49-F238E27FC236}">
                <a16:creationId xmlns:a16="http://schemas.microsoft.com/office/drawing/2014/main" id="{8FA15020-2672-9675-690C-5E39DCE85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6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29F4-C0C6-CE79-BFEA-7C888532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needs to happen for the fossil fuel to renewable switch to become a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DC0E7-15C9-B233-B175-4B5DFCCDA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Need to have dispatchable power, available anytime on demand</a:t>
            </a:r>
          </a:p>
          <a:p>
            <a:pPr lvl="1"/>
            <a:r>
              <a:rPr lang="en-US" dirty="0"/>
              <a:t>Coal, natural gas, hydroelectric and nuclear can make HUGE loads of power 24/7</a:t>
            </a:r>
          </a:p>
          <a:p>
            <a:pPr lvl="1"/>
            <a:r>
              <a:rPr lang="en-US" dirty="0"/>
              <a:t>Solar and wind make smaller loads of power (individual production sites) intermittently</a:t>
            </a:r>
          </a:p>
          <a:p>
            <a:pPr lvl="2"/>
            <a:r>
              <a:rPr lang="en-US" dirty="0"/>
              <a:t>It has to be used as it is produced!</a:t>
            </a:r>
          </a:p>
          <a:p>
            <a:pPr lvl="1"/>
            <a:endParaRPr lang="en-US" dirty="0"/>
          </a:p>
          <a:p>
            <a:r>
              <a:rPr lang="en-US" dirty="0"/>
              <a:t>To solve intermittent production problem</a:t>
            </a:r>
          </a:p>
          <a:p>
            <a:pPr lvl="1"/>
            <a:r>
              <a:rPr lang="en-US" dirty="0"/>
              <a:t>Need industrial sized awesome batteries </a:t>
            </a:r>
          </a:p>
          <a:p>
            <a:pPr lvl="2"/>
            <a:r>
              <a:rPr lang="en-US" dirty="0"/>
              <a:t>Battery technology isn’t there yet </a:t>
            </a:r>
            <a:r>
              <a:rPr lang="en-US" dirty="0">
                <a:sym typeface="Wingdings" pitchFamily="2" charset="2"/>
              </a:rPr>
              <a:t></a:t>
            </a:r>
          </a:p>
          <a:p>
            <a:pPr lvl="1"/>
            <a:r>
              <a:rPr lang="en-US" dirty="0">
                <a:sym typeface="Wingdings" pitchFamily="2" charset="2"/>
              </a:rPr>
              <a:t>Need to make hydrogen and then use hydrogen to make electricity, or use the energy to pump water up hill to be released through hydroelectric dams at night</a:t>
            </a:r>
          </a:p>
          <a:p>
            <a:pPr lvl="2"/>
            <a:r>
              <a:rPr lang="en-US" dirty="0">
                <a:sym typeface="Wingdings" pitchFamily="2" charset="2"/>
              </a:rPr>
              <a:t>This industry is also basically non existent</a:t>
            </a:r>
          </a:p>
          <a:p>
            <a:pPr lvl="1"/>
            <a:r>
              <a:rPr lang="en-US" dirty="0">
                <a:sym typeface="Wingdings" pitchFamily="2" charset="2"/>
              </a:rPr>
              <a:t>Need long distance transmission lines</a:t>
            </a:r>
          </a:p>
          <a:p>
            <a:pPr lvl="2"/>
            <a:r>
              <a:rPr lang="en-US" dirty="0">
                <a:sym typeface="Wingdings" pitchFamily="2" charset="2"/>
              </a:rPr>
              <a:t>If I’m generating at a time of day when my community wont use the electricity, maybe another community much farther away is hitting peak demand</a:t>
            </a:r>
          </a:p>
          <a:p>
            <a:pPr lvl="2"/>
            <a:r>
              <a:rPr lang="en-US" dirty="0">
                <a:sym typeface="Wingdings" pitchFamily="2" charset="2"/>
              </a:rPr>
              <a:t>If I’m in the dark, the sun is shining somewhere else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3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07ED-223F-B7FA-4C8F-CE5AE47D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Carbon Capture and Sequestration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335E1-BC8D-40E2-B260-D08A9963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8447" cy="4351338"/>
          </a:xfrm>
        </p:spPr>
        <p:txBody>
          <a:bodyPr>
            <a:normAutofit/>
          </a:bodyPr>
          <a:lstStyle/>
          <a:p>
            <a:r>
              <a:rPr lang="en-US" dirty="0"/>
              <a:t>Would remove CO2 during the production of electricity and pump it underground into </a:t>
            </a:r>
            <a:r>
              <a:rPr lang="en-US" dirty="0" err="1"/>
              <a:t>pourous</a:t>
            </a:r>
            <a:r>
              <a:rPr lang="en-US" dirty="0"/>
              <a:t> rocks</a:t>
            </a:r>
          </a:p>
          <a:p>
            <a:pPr lvl="1"/>
            <a:r>
              <a:rPr lang="en-US" dirty="0"/>
              <a:t>Oil and gas beds that have been depleted</a:t>
            </a:r>
          </a:p>
          <a:p>
            <a:pPr lvl="2"/>
            <a:r>
              <a:rPr lang="en-US" dirty="0"/>
              <a:t>Uses similar technology developed by the oil and gas industry to extract oil and gas</a:t>
            </a:r>
          </a:p>
          <a:p>
            <a:pPr lvl="2"/>
            <a:endParaRPr lang="en-US" dirty="0"/>
          </a:p>
        </p:txBody>
      </p:sp>
      <p:pic>
        <p:nvPicPr>
          <p:cNvPr id="4" name="Picture 2" descr="An infographic shows Negative emissions technologies, and estimated maximum potential carbon removal globally.&#10;">
            <a:extLst>
              <a:ext uri="{FF2B5EF4-FFF2-40B4-BE49-F238E27FC236}">
                <a16:creationId xmlns:a16="http://schemas.microsoft.com/office/drawing/2014/main" id="{48C4B31A-78E3-283D-2CD8-9CBF306E7C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7461" y="1950235"/>
            <a:ext cx="5943856" cy="327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4480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07ED-223F-B7FA-4C8F-CE5AE47D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Capture and Sequestration – Some problems with this!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335E1-BC8D-40E2-B260-D08A9963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8447" cy="4351338"/>
          </a:xfrm>
        </p:spPr>
        <p:txBody>
          <a:bodyPr>
            <a:normAutofit fontScale="77500" lnSpcReduction="20000"/>
          </a:bodyPr>
          <a:lstStyle/>
          <a:p>
            <a:pPr lvl="2"/>
            <a:endParaRPr lang="en-US" dirty="0"/>
          </a:p>
          <a:p>
            <a:r>
              <a:rPr lang="en-US" dirty="0"/>
              <a:t>Would need to divert 10-40% of all energy generated by a power plant to do capturing and storage</a:t>
            </a:r>
          </a:p>
          <a:p>
            <a:r>
              <a:rPr lang="en-US" dirty="0"/>
              <a:t>Oil and gas beds and other favorable geology is not where our power plants are located</a:t>
            </a:r>
          </a:p>
          <a:p>
            <a:r>
              <a:rPr lang="en-US" dirty="0"/>
              <a:t>THIS DOES NOT EXIST ANYWHERE!!!</a:t>
            </a:r>
          </a:p>
          <a:p>
            <a:pPr lvl="1"/>
            <a:r>
              <a:rPr lang="en-US" dirty="0"/>
              <a:t>There are no large power plants using carbon capture and sequestration.  </a:t>
            </a:r>
          </a:p>
          <a:p>
            <a:r>
              <a:rPr lang="en-US" dirty="0"/>
              <a:t>The cost of doing this is about the expense of replacing fossil fuel power plants with renewable energy </a:t>
            </a:r>
          </a:p>
        </p:txBody>
      </p:sp>
      <p:pic>
        <p:nvPicPr>
          <p:cNvPr id="4" name="Picture 2" descr="An infographic shows Negative emissions technologies, and estimated maximum potential carbon removal globally.&#10;">
            <a:extLst>
              <a:ext uri="{FF2B5EF4-FFF2-40B4-BE49-F238E27FC236}">
                <a16:creationId xmlns:a16="http://schemas.microsoft.com/office/drawing/2014/main" id="{48C4B31A-78E3-283D-2CD8-9CBF306E7C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7461" y="1950235"/>
            <a:ext cx="5943856" cy="327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7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880E-E42D-E1DE-90DA-43D2E59F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E97E5-E166-288C-F5AE-004C3EE1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1619" cy="4351338"/>
          </a:xfrm>
        </p:spPr>
        <p:txBody>
          <a:bodyPr/>
          <a:lstStyle/>
          <a:p>
            <a:r>
              <a:rPr lang="en-US" dirty="0"/>
              <a:t>These ideas are unproven and often controversial</a:t>
            </a:r>
          </a:p>
          <a:p>
            <a:r>
              <a:rPr lang="en-US" dirty="0"/>
              <a:t>Geoengineering is trying to either prevent incoming radiation or physically  remove existing emissions rather than reduce future emissions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10242" name="Picture 2" descr="Geoengineering SRM: Dark Clouds and Shady Solutions · ClimateViewer News">
            <a:extLst>
              <a:ext uri="{FF2B5EF4-FFF2-40B4-BE49-F238E27FC236}">
                <a16:creationId xmlns:a16="http://schemas.microsoft.com/office/drawing/2014/main" id="{C13331B5-572E-0493-56A2-315226BE4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99819" y="1410642"/>
            <a:ext cx="7049729" cy="456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863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D826-E730-2336-682B-CEA0A173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29EF-836E-A261-1FA9-9FAF0CB06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“cancel” the effects of increasing greenhouse gasses by increasing Earth’s albedo</a:t>
            </a:r>
          </a:p>
          <a:p>
            <a:pPr lvl="1"/>
            <a:r>
              <a:rPr lang="en-US" dirty="0"/>
              <a:t>Goal is to reduce amount of energy absorbed by the Earth in the first place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</a:t>
            </a:r>
            <a:r>
              <a:rPr lang="en-US" baseline="-25000" dirty="0"/>
              <a:t>in</a:t>
            </a:r>
            <a:r>
              <a:rPr lang="en-US" dirty="0"/>
              <a:t> = S(1 - 𝛼)/4</a:t>
            </a:r>
          </a:p>
          <a:p>
            <a:pPr marL="457200" lvl="1" indent="0">
              <a:buNone/>
            </a:pPr>
            <a:r>
              <a:rPr lang="en-US" dirty="0"/>
              <a:t>E</a:t>
            </a:r>
            <a:r>
              <a:rPr lang="en-US" baseline="-25000" dirty="0"/>
              <a:t>in</a:t>
            </a:r>
            <a:r>
              <a:rPr lang="en-US" dirty="0"/>
              <a:t> = Energy that Earth absorbs</a:t>
            </a:r>
          </a:p>
          <a:p>
            <a:pPr marL="457200" lvl="1" indent="0">
              <a:buNone/>
            </a:pPr>
            <a:r>
              <a:rPr lang="en-US" dirty="0"/>
              <a:t>S = solar constant</a:t>
            </a:r>
          </a:p>
          <a:p>
            <a:pPr marL="457200" lvl="1" indent="0">
              <a:buNone/>
            </a:pPr>
            <a:r>
              <a:rPr lang="en-US" dirty="0"/>
              <a:t>𝛼 = albedo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73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0853-80DE-F5AC-CFB0-E50BF4C8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1F3D2-1A45-005F-F40B-FBD4D2CC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8845" cy="4351338"/>
          </a:xfrm>
        </p:spPr>
        <p:txBody>
          <a:bodyPr/>
          <a:lstStyle/>
          <a:p>
            <a:pPr lvl="1"/>
            <a:r>
              <a:rPr lang="en-US" dirty="0"/>
              <a:t>Reduce S by putting lots of mirrors into orbit in space</a:t>
            </a:r>
          </a:p>
          <a:p>
            <a:endParaRPr lang="en-US" dirty="0"/>
          </a:p>
        </p:txBody>
      </p:sp>
      <p:pic>
        <p:nvPicPr>
          <p:cNvPr id="12290" name="Picture 2" descr="Climate Change Space Mirrors, Artwork Photograph by Victor Habbick Visions">
            <a:extLst>
              <a:ext uri="{FF2B5EF4-FFF2-40B4-BE49-F238E27FC236}">
                <a16:creationId xmlns:a16="http://schemas.microsoft.com/office/drawing/2014/main" id="{EC346C44-8B07-D743-D0F9-E56AA23DA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81411" y="1373905"/>
            <a:ext cx="3457757" cy="480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808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0853-80DE-F5AC-CFB0-E50BF4C8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1F3D2-1A45-005F-F40B-FBD4D2CC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71665"/>
            <a:ext cx="6988277" cy="435133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dirty="0"/>
              <a:t>Increase 𝛼 by putting aerosols into stratosphere</a:t>
            </a:r>
          </a:p>
          <a:p>
            <a:pPr lvl="2"/>
            <a:r>
              <a:rPr lang="en-US" dirty="0"/>
              <a:t>SO</a:t>
            </a:r>
            <a:r>
              <a:rPr lang="en-US" baseline="-25000" dirty="0"/>
              <a:t>2 </a:t>
            </a:r>
            <a:r>
              <a:rPr lang="en-US" dirty="0"/>
              <a:t>+ H</a:t>
            </a:r>
            <a:r>
              <a:rPr lang="en-US" baseline="-25000" dirty="0"/>
              <a:t>2 </a:t>
            </a:r>
            <a:r>
              <a:rPr lang="en-US" dirty="0"/>
              <a:t>O = sulfate aerosols</a:t>
            </a:r>
          </a:p>
          <a:p>
            <a:pPr lvl="3"/>
            <a:r>
              <a:rPr lang="en-US" dirty="0"/>
              <a:t>High reflectivity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Mimicks</a:t>
            </a:r>
            <a:r>
              <a:rPr lang="en-US" dirty="0"/>
              <a:t> what happens naturally with powerful volcanic eruptions</a:t>
            </a:r>
          </a:p>
          <a:p>
            <a:pPr lvl="2"/>
            <a:r>
              <a:rPr lang="en-US" dirty="0"/>
              <a:t>1816 “The Year Without a Summer” – Volcanic eruptions in Europe blocked incoming radiation temporarily such that it was snowing in VT in June and reached -40 degrees C in some places in the winter. </a:t>
            </a:r>
          </a:p>
          <a:p>
            <a:pPr lvl="2"/>
            <a:r>
              <a:rPr lang="en-US" dirty="0"/>
              <a:t>INSERT FIGURE 6.4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Aerosols that would work from this are not “Black Carbon” soot, which increases energy from sun </a:t>
            </a:r>
            <a:r>
              <a:rPr lang="en-US" dirty="0" err="1"/>
              <a:t>aborbed</a:t>
            </a:r>
            <a:r>
              <a:rPr lang="en-US" dirty="0"/>
              <a:t> by Earth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9BF31-DF5C-2FAE-E9BE-8460E2970F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4717" y="3393571"/>
            <a:ext cx="3926840" cy="2612311"/>
          </a:xfrm>
          <a:prstGeom prst="rect">
            <a:avLst/>
          </a:prstGeom>
        </p:spPr>
      </p:pic>
      <p:pic>
        <p:nvPicPr>
          <p:cNvPr id="13314" name="Picture 2" descr="A Year without Summer">
            <a:extLst>
              <a:ext uri="{FF2B5EF4-FFF2-40B4-BE49-F238E27FC236}">
                <a16:creationId xmlns:a16="http://schemas.microsoft.com/office/drawing/2014/main" id="{A665DF07-9B22-4116-6A09-C1FB287FF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1206" y="509744"/>
            <a:ext cx="4273862" cy="267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3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1F2D-D4C9-339B-B4E8-A6C1D43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C635-84D3-3E70-42BD-D2BA8DA8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1334012"/>
            <a:ext cx="6123040" cy="4909472"/>
          </a:xfrm>
        </p:spPr>
        <p:txBody>
          <a:bodyPr>
            <a:normAutofit/>
          </a:bodyPr>
          <a:lstStyle/>
          <a:p>
            <a:r>
              <a:rPr lang="en-US" sz="3800" dirty="0"/>
              <a:t>Increase reflectivity of clouds</a:t>
            </a:r>
          </a:p>
          <a:p>
            <a:pPr lvl="1"/>
            <a:r>
              <a:rPr lang="en-US" sz="3400" dirty="0"/>
              <a:t>Nucleate clouds artificially to produce smaller droplets, which look whiter</a:t>
            </a:r>
          </a:p>
          <a:p>
            <a:pPr lvl="1"/>
            <a:r>
              <a:rPr lang="en-US" sz="3400" dirty="0"/>
              <a:t>This is what ship tracks from planes look like</a:t>
            </a:r>
          </a:p>
          <a:p>
            <a:pPr lvl="4"/>
            <a:endParaRPr lang="en-US" sz="2300" dirty="0"/>
          </a:p>
          <a:p>
            <a:endParaRPr lang="en-US" dirty="0"/>
          </a:p>
        </p:txBody>
      </p:sp>
      <p:pic>
        <p:nvPicPr>
          <p:cNvPr id="14338" name="Picture 2" descr="NASA, Geoengineering and the Mysterious 'Ship Trails' | Wake Up World">
            <a:extLst>
              <a:ext uri="{FF2B5EF4-FFF2-40B4-BE49-F238E27FC236}">
                <a16:creationId xmlns:a16="http://schemas.microsoft.com/office/drawing/2014/main" id="{5BD1E484-AB87-3D4F-BE1C-F8052C2F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4008" y="1554461"/>
            <a:ext cx="45148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144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1F2D-D4C9-339B-B4E8-A6C1D43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C635-84D3-3E70-42BD-D2BA8DA8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1334012"/>
            <a:ext cx="6123040" cy="4909472"/>
          </a:xfrm>
        </p:spPr>
        <p:txBody>
          <a:bodyPr>
            <a:normAutofit fontScale="40000" lnSpcReduction="20000"/>
          </a:bodyPr>
          <a:lstStyle/>
          <a:p>
            <a:r>
              <a:rPr lang="en-US" sz="7400" dirty="0"/>
              <a:t>Increase reflectivity of clouds</a:t>
            </a:r>
          </a:p>
          <a:p>
            <a:pPr lvl="1"/>
            <a:r>
              <a:rPr lang="en-US" sz="5500" dirty="0"/>
              <a:t>When clouds are created the amount of water stays the same regardless of the number of droplets, if you have more droplets the clouds appear whiter</a:t>
            </a:r>
          </a:p>
          <a:p>
            <a:pPr lvl="2"/>
            <a:r>
              <a:rPr lang="en-US" sz="5100" dirty="0"/>
              <a:t>Water nucleates on cloud-condensation nuclei</a:t>
            </a:r>
          </a:p>
          <a:p>
            <a:pPr lvl="2"/>
            <a:r>
              <a:rPr lang="en-US" sz="5500" dirty="0"/>
              <a:t>Aerosols act as cloud-condensation nuclei</a:t>
            </a:r>
          </a:p>
          <a:p>
            <a:pPr lvl="2"/>
            <a:r>
              <a:rPr lang="en-US" sz="5500" dirty="0"/>
              <a:t>Can put these into the atmosphere to make a cloud and it increases the number of CCNs but the amount of water available is the same</a:t>
            </a:r>
          </a:p>
          <a:p>
            <a:pPr lvl="2"/>
            <a:r>
              <a:rPr lang="en-US" sz="5500" dirty="0"/>
              <a:t>So the droplets are smaller and look whiter</a:t>
            </a:r>
          </a:p>
          <a:p>
            <a:pPr lvl="2"/>
            <a:endParaRPr lang="en-US" sz="2900" dirty="0"/>
          </a:p>
          <a:p>
            <a:r>
              <a:rPr lang="en-US" sz="7800" dirty="0"/>
              <a:t>Creates a negative radiative forcing</a:t>
            </a:r>
          </a:p>
          <a:p>
            <a:pPr lvl="1"/>
            <a:r>
              <a:rPr lang="en-US" sz="4100" dirty="0"/>
              <a:t>Immediate temperature reaction</a:t>
            </a:r>
          </a:p>
          <a:p>
            <a:endParaRPr lang="en-US" sz="2300" dirty="0"/>
          </a:p>
          <a:p>
            <a:endParaRPr lang="en-US" dirty="0"/>
          </a:p>
        </p:txBody>
      </p:sp>
      <p:pic>
        <p:nvPicPr>
          <p:cNvPr id="14338" name="Picture 2" descr="NASA, Geoengineering and the Mysterious 'Ship Trails' | Wake Up World">
            <a:extLst>
              <a:ext uri="{FF2B5EF4-FFF2-40B4-BE49-F238E27FC236}">
                <a16:creationId xmlns:a16="http://schemas.microsoft.com/office/drawing/2014/main" id="{5BD1E484-AB87-3D4F-BE1C-F8052C2F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4008" y="1554461"/>
            <a:ext cx="45148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816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1F2D-D4C9-339B-B4E8-A6C1D43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C635-84D3-3E70-42BD-D2BA8DA8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1334012"/>
            <a:ext cx="6123040" cy="4909472"/>
          </a:xfrm>
        </p:spPr>
        <p:txBody>
          <a:bodyPr>
            <a:normAutofit fontScale="70000" lnSpcReduction="20000"/>
          </a:bodyPr>
          <a:lstStyle/>
          <a:p>
            <a:r>
              <a:rPr lang="en-US" sz="5100" dirty="0"/>
              <a:t>Increase reflectivity of clouds</a:t>
            </a:r>
          </a:p>
          <a:p>
            <a:pPr lvl="2"/>
            <a:endParaRPr lang="en-US" sz="2900" dirty="0"/>
          </a:p>
          <a:p>
            <a:pPr lvl="1"/>
            <a:r>
              <a:rPr lang="en-US" sz="3400" dirty="0"/>
              <a:t>Immediate temperature reaction</a:t>
            </a:r>
          </a:p>
          <a:p>
            <a:pPr lvl="2"/>
            <a:r>
              <a:rPr lang="en-US" sz="2900" dirty="0"/>
              <a:t>Relatively cheap</a:t>
            </a:r>
          </a:p>
          <a:p>
            <a:pPr lvl="3"/>
            <a:r>
              <a:rPr lang="en-US" sz="2300" dirty="0"/>
              <a:t>Costs maybe 10B per year</a:t>
            </a:r>
          </a:p>
          <a:p>
            <a:pPr lvl="2"/>
            <a:r>
              <a:rPr lang="en-US" sz="2900" dirty="0"/>
              <a:t>Also creates air pollution</a:t>
            </a:r>
          </a:p>
          <a:p>
            <a:pPr lvl="2"/>
            <a:r>
              <a:rPr lang="en-US" sz="2900" dirty="0"/>
              <a:t>Does nothing to prevent ocean acidification</a:t>
            </a:r>
          </a:p>
          <a:p>
            <a:pPr lvl="2"/>
            <a:r>
              <a:rPr lang="en-US" sz="2900" dirty="0"/>
              <a:t>Shifting T also shifts precipitation unpredictably</a:t>
            </a:r>
          </a:p>
          <a:p>
            <a:pPr lvl="2"/>
            <a:r>
              <a:rPr lang="en-US" sz="2900" dirty="0"/>
              <a:t>Would have to do this continuously as the </a:t>
            </a:r>
            <a:r>
              <a:rPr lang="en-US" sz="2900" dirty="0" err="1"/>
              <a:t>aersols</a:t>
            </a:r>
            <a:r>
              <a:rPr lang="en-US" sz="2900" dirty="0"/>
              <a:t> fall back to earth after a couple of weeks</a:t>
            </a:r>
          </a:p>
          <a:p>
            <a:pPr lvl="3"/>
            <a:r>
              <a:rPr lang="en-US" sz="2300" dirty="0"/>
              <a:t>Stopping would cause a rapid T rise—worse than if we had never done solar radiation management</a:t>
            </a:r>
          </a:p>
          <a:p>
            <a:pPr lvl="2"/>
            <a:r>
              <a:rPr lang="en-US" sz="2900" dirty="0">
                <a:solidFill>
                  <a:srgbClr val="FF0000"/>
                </a:solidFill>
              </a:rPr>
              <a:t>This is a risky approach with intergovernmental governance issues—this is seen only as an emergency measure—no one wants to do this</a:t>
            </a:r>
          </a:p>
          <a:p>
            <a:endParaRPr lang="en-US" sz="4500" dirty="0"/>
          </a:p>
          <a:p>
            <a:endParaRPr lang="en-US" sz="2300" dirty="0"/>
          </a:p>
          <a:p>
            <a:endParaRPr lang="en-US" dirty="0"/>
          </a:p>
        </p:txBody>
      </p:sp>
      <p:pic>
        <p:nvPicPr>
          <p:cNvPr id="14338" name="Picture 2" descr="NASA, Geoengineering and the Mysterious 'Ship Trails' | Wake Up World">
            <a:extLst>
              <a:ext uri="{FF2B5EF4-FFF2-40B4-BE49-F238E27FC236}">
                <a16:creationId xmlns:a16="http://schemas.microsoft.com/office/drawing/2014/main" id="{5BD1E484-AB87-3D4F-BE1C-F8052C2F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4008" y="1554461"/>
            <a:ext cx="45148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8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284E-4C73-FCA4-FBEF-A21E6A35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Geoengineering Carbon Dioxide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6120E-A0CB-7A88-7914-868FCE6F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599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 is to modify the carbon cycle so that carbon dioxide is rapidly removed from the atmosphere faster than natural processes (trees and phytoplankton)</a:t>
            </a:r>
          </a:p>
          <a:p>
            <a:pPr lvl="1"/>
            <a:r>
              <a:rPr lang="en-US" dirty="0"/>
              <a:t>Naturally the carbon cycle would remove the excess over about 100,000 years </a:t>
            </a:r>
          </a:p>
          <a:p>
            <a:pPr lvl="2"/>
            <a:r>
              <a:rPr lang="en-US" dirty="0"/>
              <a:t>Most would be removed within a few centuries</a:t>
            </a:r>
          </a:p>
          <a:p>
            <a:r>
              <a:rPr lang="en-US" dirty="0"/>
              <a:t>What removes carbon dioxide from the atmosphere</a:t>
            </a:r>
          </a:p>
          <a:p>
            <a:pPr lvl="1"/>
            <a:r>
              <a:rPr lang="en-US" dirty="0"/>
              <a:t>Trees –We can plant more!</a:t>
            </a:r>
          </a:p>
          <a:p>
            <a:pPr lvl="1"/>
            <a:r>
              <a:rPr lang="en-US" dirty="0"/>
              <a:t>Phytoplankton</a:t>
            </a:r>
          </a:p>
          <a:p>
            <a:pPr lvl="1"/>
            <a:r>
              <a:rPr lang="en-US" dirty="0"/>
              <a:t>Water bodies</a:t>
            </a:r>
          </a:p>
        </p:txBody>
      </p:sp>
      <p:pic>
        <p:nvPicPr>
          <p:cNvPr id="15362" name="Picture 2" descr="Carbon Cycle Diagram from the DOE | UCAR Center for Science Education">
            <a:extLst>
              <a:ext uri="{FF2B5EF4-FFF2-40B4-BE49-F238E27FC236}">
                <a16:creationId xmlns:a16="http://schemas.microsoft.com/office/drawing/2014/main" id="{D029CAEF-E2A7-BB28-0A90-7634F24B2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7150" y="2127250"/>
            <a:ext cx="451485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83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9315-E7FA-41D6-4BAD-02239F2C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Planting trees isn’t geoengineering, but…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64C9-5F67-4DD8-FEE9-DE471336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do a great job of taking up carbon!</a:t>
            </a:r>
          </a:p>
        </p:txBody>
      </p:sp>
      <p:pic>
        <p:nvPicPr>
          <p:cNvPr id="16386" name="Picture 2" descr="What are Carbon Offsets and How Do They Work? - Sustainable Travel ...">
            <a:extLst>
              <a:ext uri="{FF2B5EF4-FFF2-40B4-BE49-F238E27FC236}">
                <a16:creationId xmlns:a16="http://schemas.microsoft.com/office/drawing/2014/main" id="{20997257-208C-ADFC-8CF4-473303F4B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41440" y="2570480"/>
            <a:ext cx="5154465" cy="324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APRIL Group plants trees at Bishan-Ang Mo Kio Park | Inside RGE">
            <a:extLst>
              <a:ext uri="{FF2B5EF4-FFF2-40B4-BE49-F238E27FC236}">
                <a16:creationId xmlns:a16="http://schemas.microsoft.com/office/drawing/2014/main" id="{9F455B58-3824-E7A9-198E-4DF8A3E45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8824" y="2654710"/>
            <a:ext cx="5017176" cy="334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129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B80D-0696-91D7-D1A0-B1600CE3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Planting Trees vs. Geoengineering Carbon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9B424-DF3F-389F-406C-84A7F5BF5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live a few centuries, at best</a:t>
            </a:r>
          </a:p>
          <a:p>
            <a:pPr lvl="1"/>
            <a:r>
              <a:rPr lang="en-US" dirty="0"/>
              <a:t>If the forest burns down it releases CO2 back into atmosphere</a:t>
            </a:r>
          </a:p>
          <a:p>
            <a:pPr lvl="1"/>
            <a:r>
              <a:rPr lang="en-US" dirty="0"/>
              <a:t>If the forest is cut down it no longer is pulling CO2 out of atmosphere</a:t>
            </a:r>
          </a:p>
          <a:p>
            <a:r>
              <a:rPr lang="en-US" dirty="0"/>
              <a:t>For safe carbon sequestration, you want CO2 out of atmosphere for thousands of years if not longer</a:t>
            </a:r>
          </a:p>
        </p:txBody>
      </p:sp>
    </p:spTree>
    <p:extLst>
      <p:ext uri="{BB962C8B-B14F-4D97-AF65-F5344CB8AC3E}">
        <p14:creationId xmlns:p14="http://schemas.microsoft.com/office/powerpoint/2010/main" val="1054998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C7E7-3385-2200-1B6D-5BEA09B6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Fertilizing the Ocean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24D24-3DC4-95A4-0409-C1E67BF28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622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Goal – Increase the productivity of phytoplankton</a:t>
            </a:r>
          </a:p>
          <a:p>
            <a:pPr lvl="1"/>
            <a:r>
              <a:rPr lang="en-US" dirty="0"/>
              <a:t>Add iron to the ocean to act as a fertilizer for the green plants of the ocean to take up, and increase the growth of phytoplankton</a:t>
            </a:r>
          </a:p>
          <a:p>
            <a:pPr lvl="2"/>
            <a:r>
              <a:rPr lang="en-US" dirty="0"/>
              <a:t>More phytoplankton = more photosynthesis</a:t>
            </a:r>
          </a:p>
          <a:p>
            <a:pPr lvl="3"/>
            <a:r>
              <a:rPr lang="en-US" dirty="0"/>
              <a:t>Transported CO2 to deep ocean when phytoplankton are consumed by the food chain</a:t>
            </a:r>
          </a:p>
          <a:p>
            <a:pPr lvl="1"/>
            <a:r>
              <a:rPr lang="en-US" dirty="0"/>
              <a:t>Can’t experiment with this on a large scale without actually possibly disrupting the ocean ecosystem</a:t>
            </a:r>
          </a:p>
          <a:p>
            <a:pPr lvl="1"/>
            <a:r>
              <a:rPr lang="en-US" dirty="0"/>
              <a:t>Studies have shown that adding more may NOT have the desired effect of removing more carbon</a:t>
            </a:r>
          </a:p>
        </p:txBody>
      </p:sp>
      <p:pic>
        <p:nvPicPr>
          <p:cNvPr id="17410" name="Picture 2" descr="Weekly Science Quiz: The Antarctic Paradox">
            <a:extLst>
              <a:ext uri="{FF2B5EF4-FFF2-40B4-BE49-F238E27FC236}">
                <a16:creationId xmlns:a16="http://schemas.microsoft.com/office/drawing/2014/main" id="{3FC5CE81-B7B5-28A2-006D-CEB2E75FE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1354" y="0"/>
            <a:ext cx="4273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142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C61F-3DF7-121C-D20C-EF7B69F2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Carbon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E2D3A-DA34-A44E-E1A4-ABA36434C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905"/>
            <a:ext cx="492350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Using chemical reactions that </a:t>
            </a:r>
            <a:r>
              <a:rPr lang="en-US" dirty="0" err="1"/>
              <a:t>mimick</a:t>
            </a:r>
            <a:r>
              <a:rPr lang="en-US" dirty="0"/>
              <a:t> the photosynthetic act of pulling carbon from the atmosphere</a:t>
            </a:r>
          </a:p>
          <a:p>
            <a:r>
              <a:rPr lang="en-US" dirty="0"/>
              <a:t>Install tubes of algae on sides of buildings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“</a:t>
            </a:r>
            <a:r>
              <a:rPr lang="en-US" dirty="0">
                <a:solidFill>
                  <a:srgbClr val="444444"/>
                </a:solidFill>
                <a:latin typeface="ReithSans"/>
              </a:rPr>
              <a:t>Leaves” of a structure (“tree”) </a:t>
            </a:r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coated in a resin that contains sodium carbonate</a:t>
            </a:r>
          </a:p>
          <a:p>
            <a:pPr lvl="1"/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pulls carbon dioxide out of the air and stores it as a bicarbonate (baking soda) on the “leaf”. </a:t>
            </a:r>
          </a:p>
          <a:p>
            <a:pPr lvl="1"/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Can soak up CO2 over and over again</a:t>
            </a:r>
          </a:p>
          <a:p>
            <a:r>
              <a:rPr lang="en-US" dirty="0">
                <a:solidFill>
                  <a:srgbClr val="444444"/>
                </a:solidFill>
                <a:latin typeface="ReithSans"/>
              </a:rPr>
              <a:t>Fans coated in potassium hydroxide (potash), which pulls CO2 out of air</a:t>
            </a:r>
            <a:endParaRPr lang="en-US" dirty="0"/>
          </a:p>
        </p:txBody>
      </p:sp>
      <p:pic>
        <p:nvPicPr>
          <p:cNvPr id="18434" name="Picture 2" descr="The artificial forests of the future – big picture | Environment | The ...">
            <a:extLst>
              <a:ext uri="{FF2B5EF4-FFF2-40B4-BE49-F238E27FC236}">
                <a16:creationId xmlns:a16="http://schemas.microsoft.com/office/drawing/2014/main" id="{1E236377-94EB-F89F-C875-68EF127E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8130" y="595806"/>
            <a:ext cx="4842510" cy="322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AED45-23B4-A1DF-A149-3BAACD71D5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1425" y="3215323"/>
            <a:ext cx="5455920" cy="364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58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D713-4B0C-3686-C4F7-331BF0AF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AFA1-8B7F-34FC-069E-33ABE1431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The Intergovernmental Panel on Climate Change (IPCC) warned that we limit global warming to 1.5C by 2100</a:t>
            </a:r>
          </a:p>
          <a:p>
            <a:pPr lvl="1"/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Need to remove 10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ReithSans"/>
              </a:rPr>
              <a:t>gigatonnes</a:t>
            </a:r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 of CO2 per year by 2050, and by the end of the century that number needs to double to 20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ReithSans"/>
              </a:rPr>
              <a:t>gigatonnes</a:t>
            </a:r>
            <a:r>
              <a:rPr lang="en-US" b="0" i="0" dirty="0">
                <a:solidFill>
                  <a:srgbClr val="444444"/>
                </a:solidFill>
                <a:effectLst/>
                <a:latin typeface="ReithSans"/>
              </a:rPr>
              <a:t> per year</a:t>
            </a:r>
            <a:endParaRPr lang="en-US" dirty="0">
              <a:solidFill>
                <a:srgbClr val="444444"/>
              </a:solidFill>
              <a:latin typeface="ReithSans"/>
            </a:endParaRPr>
          </a:p>
          <a:p>
            <a:pPr lvl="1"/>
            <a:r>
              <a:rPr lang="en-US" dirty="0">
                <a:solidFill>
                  <a:srgbClr val="444444"/>
                </a:solidFill>
                <a:latin typeface="ReithSans"/>
              </a:rPr>
              <a:t>Right now we are not really removing much at all, we need to scale up from zero</a:t>
            </a:r>
          </a:p>
          <a:p>
            <a:pPr lvl="1"/>
            <a:endParaRPr lang="en-US" dirty="0">
              <a:solidFill>
                <a:srgbClr val="444444"/>
              </a:solidFill>
              <a:latin typeface="ReithSans"/>
            </a:endParaRPr>
          </a:p>
          <a:p>
            <a:r>
              <a:rPr lang="en-US" dirty="0">
                <a:solidFill>
                  <a:srgbClr val="444444"/>
                </a:solidFill>
                <a:latin typeface="ReithSans"/>
              </a:rPr>
              <a:t>Will need some combination of adaptation, mitigation, international cooperation, and maybe some technological solutions (but don’t wait for these to scale from zero!)</a:t>
            </a:r>
          </a:p>
        </p:txBody>
      </p:sp>
    </p:spTree>
    <p:extLst>
      <p:ext uri="{BB962C8B-B14F-4D97-AF65-F5344CB8AC3E}">
        <p14:creationId xmlns:p14="http://schemas.microsoft.com/office/powerpoint/2010/main" val="3080884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9B3B-83F1-E587-AE92-F80D9654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Policy Approaches to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1F68-7703-2231-5E8D-4C509AF37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Regulation</a:t>
            </a:r>
          </a:p>
          <a:p>
            <a:r>
              <a:rPr lang="en-US" dirty="0"/>
              <a:t>Carbon Tax</a:t>
            </a:r>
          </a:p>
          <a:p>
            <a:r>
              <a:rPr lang="en-US" dirty="0"/>
              <a:t>Cap and Trade</a:t>
            </a:r>
          </a:p>
          <a:p>
            <a:r>
              <a:rPr lang="en-US" dirty="0"/>
              <a:t>Offsets</a:t>
            </a:r>
          </a:p>
          <a:p>
            <a:r>
              <a:rPr lang="en-US" dirty="0"/>
              <a:t>Consumer Driven (Information)</a:t>
            </a:r>
          </a:p>
        </p:txBody>
      </p:sp>
    </p:spTree>
    <p:extLst>
      <p:ext uri="{BB962C8B-B14F-4D97-AF65-F5344CB8AC3E}">
        <p14:creationId xmlns:p14="http://schemas.microsoft.com/office/powerpoint/2010/main" val="4265396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A6E7-7DE6-DBAD-373A-990239A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Regulation vs. Free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5803D-6BEC-3D11-864D-11DFC07A1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“</a:t>
            </a:r>
            <a:r>
              <a:rPr lang="en-US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have always believed that the marketplace does work. It works because it’s based on one fundamental dynamic, which is self-interested of an individual, a company or a country.  The marketplace fosters competition and always trends towards producing a better, cheaper product, which means it is a driver of efficiency. It is in the interest of everyone 	here to make a cheaper product that is less energy intensive. It cleans up the environment which ahs economic advantages too.”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–US Senator, Chuck Hagel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57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7236-FA33-ED8F-23EC-E467070E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Free Markets will only lead to more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ECCE-25CC-A9ED-81B8-9543A2810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Emissions Reductions don’t happen by themselves</a:t>
            </a:r>
          </a:p>
          <a:p>
            <a:r>
              <a:rPr lang="en-US" dirty="0"/>
              <a:t>2) Externalities lead to “market failure” --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costs that are imposed on people who </a:t>
            </a:r>
            <a:r>
              <a:rPr lang="en-US" sz="24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not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part of the transaction –</a:t>
            </a:r>
            <a:r>
              <a:rPr lang="en-US" sz="24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buyers, 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the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makers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produce an object for $10 and the emissions from producing that object cause $2 worth of damages environmentally.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cost of that object is $12 but the manufacturer only pays $10. </a:t>
            </a:r>
          </a:p>
          <a:p>
            <a:pPr lvl="2"/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$2 of cost damage is borne by everyone in the world.  (Health problems, degraded property value, environmental harm)</a:t>
            </a:r>
          </a:p>
          <a:p>
            <a:pPr lvl="2"/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benefit to producing the object only goes to the manufacturer. </a:t>
            </a:r>
          </a:p>
          <a:p>
            <a:pPr lvl="1"/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could make the same object for $11 with no emissions it benefits the economy to not have to deal with the externality of the environmental damage.  </a:t>
            </a:r>
          </a:p>
          <a:p>
            <a:pPr lvl="2"/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why would the manufacturer switch? It is more expensive </a:t>
            </a:r>
            <a:r>
              <a:rPr lang="en-US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them.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3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41BE-57A3-DD85-ACFC-FE5FD35D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Free Markets will only lead to more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A794-3E80-E6B8-9C1D-2352664D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1) Emissions Reductions don’t happen by themselves</a:t>
            </a:r>
          </a:p>
          <a:p>
            <a:r>
              <a:rPr lang="en-US" sz="2400" dirty="0"/>
              <a:t>2) Externalities lead to “market failure”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Free market works in the interest of individual players</a:t>
            </a:r>
          </a:p>
          <a:p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4)You need government intervention or otherwise it is </a:t>
            </a:r>
            <a:r>
              <a:rPr lang="en-US" sz="24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free market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work and we accelerate to 4+ degrees C by the end of the century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69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FE2C-5806-44B6-6783-13243327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BE0F-C858-5F1E-A520-4BF4D2B22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690688"/>
            <a:ext cx="5447071" cy="4486275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“Command and Control”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 passes laws or “standards” that have to be met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Ex. Require a certain amount of renewable energy to be generated by electrical utilities by a certain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do not have a choice to do this, but may be creative in how they execute</a:t>
            </a:r>
          </a:p>
          <a:p>
            <a:pPr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CAFÉ Standards (Corporate Ave. Fuel Economy)</a:t>
            </a:r>
            <a:endParaRPr lang="en-US" sz="12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 Portfolio</a:t>
            </a:r>
          </a:p>
          <a:p>
            <a:pPr lvl="3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20% by 2020</a:t>
            </a:r>
            <a:endParaRPr lang="en-US" sz="14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 a penalty for not complying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/>
          </a:p>
        </p:txBody>
      </p:sp>
      <p:pic>
        <p:nvPicPr>
          <p:cNvPr id="1028" name="Picture 4" descr="Activity 4.1 – US Environmental History and Major Regulations.">
            <a:extLst>
              <a:ext uri="{FF2B5EF4-FFF2-40B4-BE49-F238E27FC236}">
                <a16:creationId xmlns:a16="http://schemas.microsoft.com/office/drawing/2014/main" id="{23FB423F-92DC-186D-DA2E-518DC4FDD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6096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24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2EA4B-5BA5-C896-3F1E-AD64B8A7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ctivity 4.1 – US Environmental History and Major Regulations.">
            <a:extLst>
              <a:ext uri="{FF2B5EF4-FFF2-40B4-BE49-F238E27FC236}">
                <a16:creationId xmlns:a16="http://schemas.microsoft.com/office/drawing/2014/main" id="{6FDAEE77-8FA5-4A39-1152-604CF1A021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167" y="528707"/>
            <a:ext cx="9743767" cy="580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245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F00C-4E1F-299F-7D1D-3D9631E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 Based Regulations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87A21-A97A-E183-EB13-0587F694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3"/>
            <a:ext cx="10515600" cy="5112962"/>
          </a:xfrm>
        </p:spPr>
        <p:txBody>
          <a:bodyPr/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 Tax – puts a price on carbon emissions</a:t>
            </a:r>
          </a:p>
          <a:p>
            <a:pPr lvl="1"/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charge for each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tonne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emissions released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by placing the tax on the fuel</a:t>
            </a:r>
          </a:p>
          <a:p>
            <a:pPr lvl="2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 passed to consumers</a:t>
            </a:r>
          </a:p>
          <a:p>
            <a:pPr lvl="2"/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Assumes that non emitting technology doesn’t raise prices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Marginal Cost = the cost of reducing a particular ton of emissions</a:t>
            </a:r>
          </a:p>
          <a:p>
            <a:pPr lvl="1"/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Emitters reduce until the margin cost of emissions equals the cost of the tax</a:t>
            </a:r>
          </a:p>
          <a:p>
            <a:pPr lvl="1"/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Lets assume you are a power plant operating in an environment with a carbon tax</a:t>
            </a:r>
          </a:p>
          <a:p>
            <a:pPr lvl="1"/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costs $1/ton for the reduction and $4/ton for tax</a:t>
            </a:r>
          </a:p>
          <a:p>
            <a:pPr lvl="2"/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the emitter is going to seek to reduce emissions</a:t>
            </a:r>
          </a:p>
          <a:p>
            <a:pPr lvl="1"/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costs $4/ton for the reduction effort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$4/ton for tax</a:t>
            </a:r>
          </a:p>
          <a:p>
            <a:pPr lvl="2"/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the emitter is still likely to seek to reduce emissions</a:t>
            </a:r>
          </a:p>
          <a:p>
            <a:pPr lvl="1"/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costs $5/ton for the reduction effort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$4/ton for tax</a:t>
            </a:r>
          </a:p>
          <a:p>
            <a:pPr lvl="2"/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the emitter is still likely to just pay the tax</a:t>
            </a:r>
          </a:p>
          <a:p>
            <a:pPr lvl="2"/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0CE7-7825-9185-289F-F48F210E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Based 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B1CA-D407-4A6F-93E0-BD5CA3BB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 and TRADE –government issues fixed number of permits to pollute each year allowing a holder to emit a fixed amount of greenhouse gases. </a:t>
            </a:r>
          </a:p>
          <a:p>
            <a:pPr lvl="1"/>
            <a:r>
              <a:rPr lang="en-US" dirty="0"/>
              <a:t> Total number of permits Is the cap on emissions.  </a:t>
            </a:r>
          </a:p>
          <a:p>
            <a:pPr lvl="1"/>
            <a:r>
              <a:rPr lang="en-US" dirty="0"/>
              <a:t>Emitters with extra permits (they emit less than other plants) sell their permits to emitters who emit more.  </a:t>
            </a:r>
          </a:p>
          <a:p>
            <a:pPr lvl="1"/>
            <a:r>
              <a:rPr lang="en-US" dirty="0"/>
              <a:t>This adds extra operational costs and encourages inefficient plants to upgrade or shut 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31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8A83-E91A-6029-5666-0A74F7F3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and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4417-974F-543C-A948-05E61DB10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World's 2nd largest cap-and-trade market | Ontario Solar Installers">
            <a:extLst>
              <a:ext uri="{FF2B5EF4-FFF2-40B4-BE49-F238E27FC236}">
                <a16:creationId xmlns:a16="http://schemas.microsoft.com/office/drawing/2014/main" id="{6DD28E18-E65E-BF8E-C32A-CA70DD99E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210" y="1455148"/>
            <a:ext cx="8893579" cy="509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787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3DBC-34F4-67F1-57EA-EF7AE1DD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and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E3C20-F609-BFED-ECD3-526566255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example of this might look like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Assume you are a power plant</a:t>
            </a:r>
          </a:p>
          <a:p>
            <a:pPr marL="45720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margin cost of reducing one unit of CO2 is less than the permit cost, the emitter will not emit that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tonne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(they will strive towards reduction of CO2).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wouldn’t have to buy a permit or they could sell their permit for a profit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margin cost of reducing one unit is more than the permit cost, the emitter must buy a permit and will emit that unit of CO2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The emitters reduce until the margin cost is the cost of the permit.  Can raise the cap through time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unit of CO2 is emitted the permit is retired (so you would have to buy more to emit more)</a:t>
            </a:r>
          </a:p>
          <a:p>
            <a:pPr marL="45720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overnment could auction off the permits and companies pass cost to consumers</a:t>
            </a:r>
          </a:p>
          <a:p>
            <a:pPr marL="45720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 can have a “valve” to loosen or tighten cap or permit price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26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FA52-A860-77D9-41E4-64C3F958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and Trade vs Carbon 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6AAE-39C2-0CA5-17A7-A7035B28A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Ecochain_CapAndTrade_CarbonTax">
            <a:extLst>
              <a:ext uri="{FF2B5EF4-FFF2-40B4-BE49-F238E27FC236}">
                <a16:creationId xmlns:a16="http://schemas.microsoft.com/office/drawing/2014/main" id="{0C97402D-7EFE-6823-560D-86CE5C9A7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599" y="1324928"/>
            <a:ext cx="9022802" cy="566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29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FA52-A860-77D9-41E4-64C3F958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and Trade vs Carbon 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6AAE-39C2-0CA5-17A7-A7035B28A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9349" cy="4351338"/>
          </a:xfrm>
        </p:spPr>
        <p:txBody>
          <a:bodyPr/>
          <a:lstStyle/>
          <a:p>
            <a:r>
              <a:rPr lang="en-US" dirty="0"/>
              <a:t>Carbon Tax – we know the cost of the reduction but not how much would be reduced</a:t>
            </a:r>
          </a:p>
          <a:p>
            <a:r>
              <a:rPr lang="en-US" dirty="0"/>
              <a:t>Cap and Trade – we know how much would be reduced but not the cost to do so</a:t>
            </a:r>
          </a:p>
        </p:txBody>
      </p:sp>
      <p:pic>
        <p:nvPicPr>
          <p:cNvPr id="4098" name="Picture 2" descr="Ecochain_CapAndTrade_CarbonTax">
            <a:extLst>
              <a:ext uri="{FF2B5EF4-FFF2-40B4-BE49-F238E27FC236}">
                <a16:creationId xmlns:a16="http://schemas.microsoft.com/office/drawing/2014/main" id="{0C97402D-7EFE-6823-560D-86CE5C9A7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153" y="2015836"/>
            <a:ext cx="5672847" cy="356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136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7B5F-7D07-F5A3-9359-7C8BA2D4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A7A2D-518E-77A1-E951-7BDCC6B3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2193" cy="4351338"/>
          </a:xfrm>
        </p:spPr>
        <p:txBody>
          <a:bodyPr/>
          <a:lstStyle/>
          <a:p>
            <a:r>
              <a:rPr lang="en-US" dirty="0"/>
              <a:t>Both put a price on carbon emissions</a:t>
            </a:r>
          </a:p>
          <a:p>
            <a:r>
              <a:rPr lang="en-US" dirty="0"/>
              <a:t>Both raise the cost of fossil fuels</a:t>
            </a:r>
          </a:p>
          <a:p>
            <a:r>
              <a:rPr lang="en-US" dirty="0"/>
              <a:t>Both raise the cost of energy made with fossil fuels</a:t>
            </a:r>
          </a:p>
        </p:txBody>
      </p:sp>
      <p:pic>
        <p:nvPicPr>
          <p:cNvPr id="5122" name="Picture 2" descr="Ecochain_CarbonPricingAroundTheWorld">
            <a:extLst>
              <a:ext uri="{FF2B5EF4-FFF2-40B4-BE49-F238E27FC236}">
                <a16:creationId xmlns:a16="http://schemas.microsoft.com/office/drawing/2014/main" id="{175BF1C2-E88E-35DF-7177-2F1FD4921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903" y="158750"/>
            <a:ext cx="7077075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375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F39E-195C-CF6C-61DB-43611CF0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Offsets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ECA8-6E06-98FD-3659-D1164A94A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arbon Offsetting or Upsetting? | sustainablah-blah-blah">
            <a:extLst>
              <a:ext uri="{FF2B5EF4-FFF2-40B4-BE49-F238E27FC236}">
                <a16:creationId xmlns:a16="http://schemas.microsoft.com/office/drawing/2014/main" id="{4B4296EE-77F8-D388-6240-A2026AE6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461" y="1330721"/>
            <a:ext cx="9253451" cy="534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213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D0BE-123A-809E-F25B-12736E23B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Offsets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7021-677A-32EC-8915-C81719A3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993"/>
            <a:ext cx="5257800" cy="4351338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Buying tree planting to absorb the amount of CO2 emitted and “offset” emissions</a:t>
            </a:r>
          </a:p>
          <a:p>
            <a:pPr marL="45720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 is to create “negative emission”—offsets</a:t>
            </a:r>
          </a:p>
          <a:p>
            <a:pPr marL="45720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to lower the amount of carbon tax paid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be cheaper than capture technology or efficiency upgrades</a:t>
            </a:r>
          </a:p>
          <a:p>
            <a:endParaRPr lang="en-US" dirty="0"/>
          </a:p>
        </p:txBody>
      </p:sp>
      <p:pic>
        <p:nvPicPr>
          <p:cNvPr id="6146" name="Picture 2" descr="What is a carbon offset?">
            <a:extLst>
              <a:ext uri="{FF2B5EF4-FFF2-40B4-BE49-F238E27FC236}">
                <a16:creationId xmlns:a16="http://schemas.microsoft.com/office/drawing/2014/main" id="{6285DA88-3E10-2FDA-9049-EF8D98988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232" y="2417133"/>
            <a:ext cx="5257800" cy="316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9830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2E97-5137-1885-A091-EC97CD51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Offsets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E12B-2298-67DA-BA04-9E08B185A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why they are difficult—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Verification – How do verify the money to plant trees actually planted trees?  That the forest wasn’t cut down? Burns down? Does the owner of the offset have to refund the credit?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Additionality – we need to assure that the trees planted wouldn’t have been planted anyways without payment.  Need offsetting action to be tied to the payment of a power plant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to be </a:t>
            </a:r>
            <a:r>
              <a:rPr lang="en-US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addition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what would have happened anyways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00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CB86-1830-1EF8-E260-41CAD08B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Financial Mechanisms to Address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73920-7B6C-D531-C99F-50F5C119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5233" cy="4351338"/>
          </a:xfrm>
        </p:spPr>
        <p:txBody>
          <a:bodyPr/>
          <a:lstStyle/>
          <a:p>
            <a:r>
              <a:rPr lang="en-US" dirty="0"/>
              <a:t>Feed in Tariffs on Renewable Energy – </a:t>
            </a:r>
            <a:r>
              <a:rPr lang="en-US" dirty="0" err="1"/>
              <a:t>longterm</a:t>
            </a:r>
            <a:r>
              <a:rPr lang="en-US" dirty="0"/>
              <a:t> stable contracts for renewable energy put on the grid (by property owners)</a:t>
            </a:r>
          </a:p>
          <a:p>
            <a:r>
              <a:rPr lang="en-US" dirty="0"/>
              <a:t>Subsidies - 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It can be direct (such as cash payments) or indirect (such as </a:t>
            </a:r>
            <a:r>
              <a:rPr lang="en-US" b="0" i="0" u="sng" dirty="0">
                <a:solidFill>
                  <a:srgbClr val="2C40D0"/>
                </a:solidFill>
                <a:effectLst/>
                <a:latin typeface="SourceSansPro"/>
                <a:hlinkClick r:id="rId2"/>
              </a:rPr>
              <a:t>tax breaks</a:t>
            </a:r>
            <a:r>
              <a:rPr lang="en-US" b="0" i="0" dirty="0">
                <a:solidFill>
                  <a:srgbClr val="111111"/>
                </a:solidFill>
                <a:effectLst/>
                <a:latin typeface="SourceSansPro"/>
              </a:rPr>
              <a:t>). The subsidy is typically given to remove some type of burden, and it is often considered to be in the overall interest of the public, given to promote a social good or an economic policy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24FE5-F266-72EA-8E01-C213F652F6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91" t="24652" r="43000" b="23879"/>
          <a:stretch/>
        </p:blipFill>
        <p:spPr>
          <a:xfrm>
            <a:off x="6777644" y="2056448"/>
            <a:ext cx="4987636" cy="3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49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3AA7-A1E3-5F0B-A7DC-33AFE7F1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29DF-54A0-17C2-B0AC-C6C2C6D3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6959E-FF4E-737E-2F0E-C55EAD36D5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1" t="24652" r="43000" b="23879"/>
          <a:stretch/>
        </p:blipFill>
        <p:spPr>
          <a:xfrm>
            <a:off x="1324495" y="365125"/>
            <a:ext cx="8700654" cy="61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104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37F0-1F4A-DEDD-535B-BFE74A83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Action -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9CE1F-6C8C-0145-1DCE-2174F8E89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Puts the onus on YOU to fix the problem caused by emitters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-Convince you that the driver of the problem isn’t the emitter but something else to distract consumers from actually pushing for reduced emissions or changing behaviors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6660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6CCB-4D63-D468-44A7-4CFB8DD4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8" y="2975322"/>
            <a:ext cx="3617422" cy="1325563"/>
          </a:xfrm>
        </p:spPr>
        <p:txBody>
          <a:bodyPr/>
          <a:lstStyle/>
          <a:p>
            <a:r>
              <a:rPr lang="en-US" dirty="0"/>
              <a:t>Here is who is responsible for 1/3 of all emissions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C8E5-E23F-8F6E-05B9-AD55D075D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6D050-47E5-C607-A33A-A6A9C7D2F0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09" t="12364" r="37273" b="14909"/>
          <a:stretch/>
        </p:blipFill>
        <p:spPr>
          <a:xfrm>
            <a:off x="4645428" y="263715"/>
            <a:ext cx="6393874" cy="633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640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1E24-EFDC-3425-1024-4EA5DBD3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511"/>
            <a:ext cx="10515600" cy="1325563"/>
          </a:xfrm>
        </p:spPr>
        <p:txBody>
          <a:bodyPr/>
          <a:lstStyle/>
          <a:p>
            <a:r>
              <a:rPr lang="en-US" dirty="0"/>
              <a:t>Here is what you have been convinced to focus your attention on instead of the 100 companies causing 70% of all climate emission</a:t>
            </a:r>
          </a:p>
        </p:txBody>
      </p:sp>
      <p:pic>
        <p:nvPicPr>
          <p:cNvPr id="8196" name="Picture 4" descr="Plastic drinking straws may be the most unnecessary plastic product we ...">
            <a:extLst>
              <a:ext uri="{FF2B5EF4-FFF2-40B4-BE49-F238E27FC236}">
                <a16:creationId xmlns:a16="http://schemas.microsoft.com/office/drawing/2014/main" id="{6CCDBCE5-08BB-E86A-823D-552EAAC36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519" y="2413142"/>
            <a:ext cx="5463452" cy="409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537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E4FD-152E-367A-BFD3-823F8319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27B6-798E-2063-5067-A1D91A304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850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71A1-2828-534A-84FD-DC4E54EF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07" y="94537"/>
            <a:ext cx="10515600" cy="1325563"/>
          </a:xfrm>
        </p:spPr>
        <p:txBody>
          <a:bodyPr/>
          <a:lstStyle/>
          <a:p>
            <a:r>
              <a:rPr lang="en-US" dirty="0"/>
              <a:t>Climate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D30E-1A6A-B027-96B1-91CFCCBA8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051184"/>
            <a:ext cx="5181600" cy="4351338"/>
          </a:xfrm>
        </p:spPr>
        <p:txBody>
          <a:bodyPr>
            <a:noAutofit/>
          </a:bodyPr>
          <a:lstStyle/>
          <a:p>
            <a:r>
              <a:rPr lang="en-US" sz="2400" dirty="0"/>
              <a:t>1992 Earth Summit in Rio de Janeiro</a:t>
            </a:r>
          </a:p>
          <a:p>
            <a:pPr lvl="1"/>
            <a:r>
              <a:rPr lang="en-US" sz="2000" dirty="0"/>
              <a:t>“Framework Convention”</a:t>
            </a:r>
          </a:p>
          <a:p>
            <a:pPr lvl="2"/>
            <a:r>
              <a:rPr lang="en-US" sz="1800" dirty="0"/>
              <a:t>Near universal membership—ratified by 192 nations (including all big emitters)</a:t>
            </a:r>
          </a:p>
          <a:p>
            <a:pPr lvl="2"/>
            <a:r>
              <a:rPr lang="en-US" sz="1800" dirty="0"/>
              <a:t>Established the building blocks on which future negotiations are built</a:t>
            </a:r>
          </a:p>
          <a:p>
            <a:pPr lvl="3"/>
            <a:r>
              <a:rPr lang="en-US" sz="1600" dirty="0">
                <a:solidFill>
                  <a:srgbClr val="FF0000"/>
                </a:solidFill>
              </a:rPr>
              <a:t>Goal “achieve stabilization of greenhouse gas concentrations at a low enough level to prevent dangerous anthropocentric interference with the climate system”</a:t>
            </a:r>
          </a:p>
          <a:p>
            <a:pPr lvl="3"/>
            <a:r>
              <a:rPr lang="en-US" sz="1600" dirty="0"/>
              <a:t>Introduced “</a:t>
            </a:r>
            <a:r>
              <a:rPr lang="en-US" sz="1600" dirty="0">
                <a:solidFill>
                  <a:srgbClr val="FF0000"/>
                </a:solidFill>
              </a:rPr>
              <a:t>common by t differentiated responsibilities</a:t>
            </a:r>
            <a:r>
              <a:rPr lang="en-US" sz="1600" dirty="0"/>
              <a:t>” –nod to inequities</a:t>
            </a:r>
          </a:p>
          <a:p>
            <a:pPr lvl="4"/>
            <a:r>
              <a:rPr lang="en-US" sz="1600" dirty="0"/>
              <a:t>Expect rich countries to cut emissions before developing countries</a:t>
            </a:r>
          </a:p>
          <a:p>
            <a:pPr lvl="5"/>
            <a:r>
              <a:rPr lang="en-US" sz="1600" dirty="0"/>
              <a:t>Idea is that rich countries have means to cut emissions and can scale technology that can then be used by developing countries</a:t>
            </a:r>
          </a:p>
          <a:p>
            <a:pPr lvl="4"/>
            <a:r>
              <a:rPr lang="en-US" sz="1600" dirty="0"/>
              <a:t>Everyone participates but not at the same time frame or extent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60F2C-3244-BD66-0966-55A0DD33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13134"/>
            <a:ext cx="5181600" cy="1682685"/>
          </a:xfrm>
        </p:spPr>
        <p:txBody>
          <a:bodyPr/>
          <a:lstStyle/>
          <a:p>
            <a:r>
              <a:rPr lang="en-US" sz="2000" dirty="0"/>
              <a:t>Established the </a:t>
            </a:r>
            <a:r>
              <a:rPr lang="en-US" sz="2000" dirty="0">
                <a:solidFill>
                  <a:srgbClr val="FF0000"/>
                </a:solidFill>
              </a:rPr>
              <a:t>“Precautionary Principle”: Where there are threats of serious or irreversible damage, lack of full scientific certainty should not be used as a reason to postpone such measures.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0E4F0-7419-C851-AAA4-758E39D40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99" y="3688853"/>
            <a:ext cx="4800601" cy="316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77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53F0-5B60-B85A-2F44-9B9B4DA4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3DB4-F912-FBC7-3FE6-7D435B1FF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1995 it was clear no country was going to meet emissions reduction targets set in Rio de Janeiro in 1992</a:t>
            </a:r>
          </a:p>
          <a:p>
            <a:pPr lvl="1"/>
            <a:r>
              <a:rPr lang="en-US" dirty="0"/>
              <a:t>Original “Framework” was all voluntary</a:t>
            </a:r>
          </a:p>
          <a:p>
            <a:pPr lvl="1"/>
            <a:r>
              <a:rPr lang="en-US" dirty="0"/>
              <a:t>Realized they needed mandatory reductions to be agreed upon</a:t>
            </a:r>
          </a:p>
          <a:p>
            <a:r>
              <a:rPr lang="en-US" dirty="0"/>
              <a:t>Kyoto Protocol 1997</a:t>
            </a:r>
          </a:p>
          <a:p>
            <a:pPr lvl="1"/>
            <a:r>
              <a:rPr lang="en-US" dirty="0"/>
              <a:t>Emissions from industrialized nations to be 5% below 1990 emissions levels from 2008-2012 commitment time frame</a:t>
            </a:r>
          </a:p>
          <a:p>
            <a:pPr lvl="2"/>
            <a:r>
              <a:rPr lang="en-US" dirty="0"/>
              <a:t>Flexible in how that commitment could be met</a:t>
            </a:r>
          </a:p>
          <a:p>
            <a:pPr lvl="2"/>
            <a:r>
              <a:rPr lang="en-US" dirty="0"/>
              <a:t>Reduction obligations could be exchanged with other nations</a:t>
            </a:r>
          </a:p>
          <a:p>
            <a:pPr lvl="3"/>
            <a:r>
              <a:rPr lang="en-US" dirty="0"/>
              <a:t>Clean Development Mechanism –industrialized countries could invest in emissions reduction projects where it is cheapest typically in developing countries</a:t>
            </a:r>
          </a:p>
          <a:p>
            <a:pPr lvl="4"/>
            <a:r>
              <a:rPr lang="en-US" dirty="0"/>
              <a:t>Have to show that a project would not be built without the financial support from the industrialized nation</a:t>
            </a:r>
          </a:p>
          <a:p>
            <a:pPr lvl="3"/>
            <a:r>
              <a:rPr lang="en-US" dirty="0"/>
              <a:t>Reduction obligations could be met through offsets</a:t>
            </a:r>
          </a:p>
        </p:txBody>
      </p:sp>
    </p:spTree>
    <p:extLst>
      <p:ext uri="{BB962C8B-B14F-4D97-AF65-F5344CB8AC3E}">
        <p14:creationId xmlns:p14="http://schemas.microsoft.com/office/powerpoint/2010/main" val="28831408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33B6-45ED-E424-2B51-81A1A4686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939" y="-189633"/>
            <a:ext cx="8747683" cy="1102705"/>
          </a:xfrm>
        </p:spPr>
        <p:txBody>
          <a:bodyPr/>
          <a:lstStyle/>
          <a:p>
            <a:r>
              <a:rPr lang="en-US" dirty="0"/>
              <a:t>The George W Bush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8A39-DC06-CAFE-F975-8F351ACE1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225" y="1396417"/>
            <a:ext cx="5181600" cy="4351338"/>
          </a:xfrm>
        </p:spPr>
        <p:txBody>
          <a:bodyPr/>
          <a:lstStyle/>
          <a:p>
            <a:r>
              <a:rPr lang="en-US" dirty="0"/>
              <a:t>After Climate Talks in Den Hauge, Netherlands in 2000, Bush Administration withdrew from the Kyoto Protocol process.</a:t>
            </a:r>
          </a:p>
          <a:p>
            <a:pPr lvl="1"/>
            <a:r>
              <a:rPr lang="en-US" dirty="0"/>
              <a:t>Painted the “common but differentiated responsibility” as unfair</a:t>
            </a:r>
          </a:p>
          <a:p>
            <a:pPr lvl="2"/>
            <a:r>
              <a:rPr lang="en-US" dirty="0"/>
              <a:t>Caused conflict between rich and poor countries in climate talks subsequently</a:t>
            </a:r>
          </a:p>
          <a:p>
            <a:pPr lvl="1"/>
            <a:r>
              <a:rPr lang="en-US" dirty="0"/>
              <a:t>Federal government took no action on climate but many states did regional greenhouse gas </a:t>
            </a:r>
            <a:r>
              <a:rPr lang="en-US" dirty="0" err="1"/>
              <a:t>intiatives</a:t>
            </a:r>
            <a:r>
              <a:rPr lang="en-US" dirty="0"/>
              <a:t> and climate action planning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9E7FE-60E7-BDA4-C3E5-01AAA22AB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637313"/>
            <a:ext cx="5181600" cy="2127381"/>
          </a:xfrm>
        </p:spPr>
        <p:txBody>
          <a:bodyPr/>
          <a:lstStyle/>
          <a:p>
            <a:pPr lvl="1"/>
            <a:r>
              <a:rPr lang="en-US" dirty="0"/>
              <a:t>Enough countries still ratified the protocol to go into effect in 2005</a:t>
            </a:r>
          </a:p>
          <a:p>
            <a:pPr lvl="2"/>
            <a:r>
              <a:rPr lang="en-US" dirty="0"/>
              <a:t>EU aggressively took actions such as large scale cap and trade </a:t>
            </a:r>
          </a:p>
          <a:p>
            <a:pPr lvl="2"/>
            <a:endParaRPr lang="en-US" dirty="0"/>
          </a:p>
          <a:p>
            <a:endParaRPr lang="en-US" b="1" dirty="0"/>
          </a:p>
        </p:txBody>
      </p:sp>
      <p:pic>
        <p:nvPicPr>
          <p:cNvPr id="1026" name="Picture 2" descr="Why the U.S. lags behind Europe on climate change goals 'by 10 or 15 years'">
            <a:extLst>
              <a:ext uri="{FF2B5EF4-FFF2-40B4-BE49-F238E27FC236}">
                <a16:creationId xmlns:a16="http://schemas.microsoft.com/office/drawing/2014/main" id="{49C18A6F-2A82-BC64-CA55-AC624F26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177" y="1396417"/>
            <a:ext cx="5586157" cy="314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7062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5058-5C63-54D4-73DF-33B32793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Obama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2B87-D667-E6B9-B85E-CCDBEE83F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5181600" cy="4351338"/>
          </a:xfrm>
        </p:spPr>
        <p:txBody>
          <a:bodyPr/>
          <a:lstStyle/>
          <a:p>
            <a:r>
              <a:rPr lang="en-US" dirty="0"/>
              <a:t>2009 Negotiation in Copenhagen, Denmark</a:t>
            </a:r>
          </a:p>
          <a:p>
            <a:pPr lvl="1"/>
            <a:r>
              <a:rPr lang="en-US" dirty="0"/>
              <a:t>Marked by disputes between developing and industrialized nations over sharing the burden or action</a:t>
            </a:r>
          </a:p>
          <a:p>
            <a:pPr lvl="1"/>
            <a:r>
              <a:rPr lang="en-US" dirty="0"/>
              <a:t>Copenhagen Accords Included</a:t>
            </a:r>
          </a:p>
          <a:p>
            <a:pPr lvl="2"/>
            <a:r>
              <a:rPr lang="en-US" dirty="0"/>
              <a:t>Global T should not rise more than 2 degrees C beyond pre industrialized levels</a:t>
            </a:r>
          </a:p>
          <a:p>
            <a:pPr lvl="2"/>
            <a:r>
              <a:rPr lang="en-US" dirty="0"/>
              <a:t>Recognized deep cuts to emissions needed</a:t>
            </a:r>
          </a:p>
          <a:p>
            <a:pPr lvl="2"/>
            <a:r>
              <a:rPr lang="en-US" dirty="0"/>
              <a:t>Recognized equity issues</a:t>
            </a:r>
          </a:p>
          <a:p>
            <a:pPr lvl="3"/>
            <a:r>
              <a:rPr lang="en-US" dirty="0"/>
              <a:t>Rich countries set their own 2020 emissions goals, developing countries did not accept specific emissions targets</a:t>
            </a:r>
          </a:p>
          <a:p>
            <a:pPr lvl="3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11AD3-D4A4-B733-8CC3-BB99AFD9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502" y="3677491"/>
            <a:ext cx="5074298" cy="2815384"/>
          </a:xfrm>
        </p:spPr>
        <p:txBody>
          <a:bodyPr/>
          <a:lstStyle/>
          <a:p>
            <a:pPr lvl="1"/>
            <a:r>
              <a:rPr lang="en-US" dirty="0"/>
              <a:t>Political climate in US</a:t>
            </a:r>
          </a:p>
          <a:p>
            <a:pPr lvl="2"/>
            <a:r>
              <a:rPr lang="en-US" dirty="0"/>
              <a:t>Tea Party opposed any government intervention in anything</a:t>
            </a:r>
          </a:p>
          <a:p>
            <a:pPr lvl="3"/>
            <a:r>
              <a:rPr lang="en-US" dirty="0"/>
              <a:t>This turned a number of previously pro climate action Republicans against any climate action (Newt Gingrich, Mitt Romney, John McCain)</a:t>
            </a:r>
          </a:p>
          <a:p>
            <a:pPr lvl="2"/>
            <a:r>
              <a:rPr lang="en-US" dirty="0"/>
              <a:t>Majority Republican control of congress at mid term elections ended hope of climate legislation</a:t>
            </a:r>
          </a:p>
          <a:p>
            <a:endParaRPr lang="en-US" dirty="0"/>
          </a:p>
        </p:txBody>
      </p:sp>
      <p:pic>
        <p:nvPicPr>
          <p:cNvPr id="2052" name="Picture 4" descr="Climate Activism Soars Planetwide Ahead of Copenhagen Climate Talks ...">
            <a:extLst>
              <a:ext uri="{FF2B5EF4-FFF2-40B4-BE49-F238E27FC236}">
                <a16:creationId xmlns:a16="http://schemas.microsoft.com/office/drawing/2014/main" id="{33FABB5E-5E4E-B1D7-1577-6C6F80AF0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755" y="270587"/>
            <a:ext cx="4416489" cy="33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2134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DB01-01A5-2781-04C3-A5EC2916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-92075"/>
            <a:ext cx="10515600" cy="1325563"/>
          </a:xfrm>
        </p:spPr>
        <p:txBody>
          <a:bodyPr/>
          <a:lstStyle/>
          <a:p>
            <a:r>
              <a:rPr lang="en-US" dirty="0"/>
              <a:t>The Obama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CF4F6-E65D-7B89-FF5B-19C1C883B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257" y="920556"/>
            <a:ext cx="5181600" cy="4351338"/>
          </a:xfrm>
        </p:spPr>
        <p:txBody>
          <a:bodyPr/>
          <a:lstStyle/>
          <a:p>
            <a:r>
              <a:rPr lang="en-US" dirty="0"/>
              <a:t>Paris Agreement 2015</a:t>
            </a:r>
          </a:p>
          <a:p>
            <a:pPr lvl="1"/>
            <a:r>
              <a:rPr lang="en-US" dirty="0"/>
              <a:t>Required nations propose their own climate actions and commitments</a:t>
            </a:r>
          </a:p>
          <a:p>
            <a:pPr lvl="2"/>
            <a:r>
              <a:rPr lang="en-US" dirty="0"/>
              <a:t>Avoided having the problem of everyone having to agree to the same targets</a:t>
            </a:r>
          </a:p>
          <a:p>
            <a:pPr lvl="2"/>
            <a:r>
              <a:rPr lang="en-US" dirty="0"/>
              <a:t>No penalty for missing targets but a “Name and Shame”</a:t>
            </a:r>
          </a:p>
          <a:p>
            <a:pPr lvl="3"/>
            <a:r>
              <a:rPr lang="en-US" dirty="0"/>
              <a:t>US pledged to reduce emissions by 2025 by 26% below 2005 levels, EU pledged 40% cut by 2030 compared to 1990</a:t>
            </a:r>
          </a:p>
          <a:p>
            <a:pPr lvl="3"/>
            <a:r>
              <a:rPr lang="en-US" dirty="0"/>
              <a:t>China signed on to peak emissions by 2030 and decline thereafter</a:t>
            </a:r>
          </a:p>
          <a:p>
            <a:pPr lvl="2"/>
            <a:r>
              <a:rPr lang="en-US" dirty="0"/>
              <a:t>Goal to keep warming by 2100 below 2 degrees C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55BC5-98A5-BC8C-5794-31B9832D6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805340"/>
            <a:ext cx="5181600" cy="4351338"/>
          </a:xfrm>
        </p:spPr>
        <p:txBody>
          <a:bodyPr/>
          <a:lstStyle/>
          <a:p>
            <a:r>
              <a:rPr lang="en-US" sz="2400" dirty="0"/>
              <a:t>Seen as success but can’t actually stabilize the climate</a:t>
            </a:r>
          </a:p>
          <a:p>
            <a:r>
              <a:rPr lang="en-US" sz="2400" dirty="0"/>
              <a:t>Obama submitted “Clean Power Plan” focused on power plants and required states to set targets for emissions reductions through </a:t>
            </a:r>
          </a:p>
          <a:p>
            <a:pPr lvl="1"/>
            <a:r>
              <a:rPr lang="en-US" sz="2000" dirty="0"/>
              <a:t>Energy Efficiency, low emissions (natural gas), renewable energy</a:t>
            </a:r>
          </a:p>
          <a:p>
            <a:pPr lvl="1"/>
            <a:r>
              <a:rPr lang="en-US" sz="2000" dirty="0"/>
              <a:t>Not put into action—Supreme Court shot it down </a:t>
            </a:r>
          </a:p>
          <a:p>
            <a:pPr lvl="2"/>
            <a:r>
              <a:rPr lang="en-US" sz="1800" dirty="0"/>
              <a:t>Many states still followed through </a:t>
            </a:r>
          </a:p>
          <a:p>
            <a:endParaRPr lang="en-US" dirty="0"/>
          </a:p>
        </p:txBody>
      </p:sp>
      <p:pic>
        <p:nvPicPr>
          <p:cNvPr id="3074" name="Picture 2" descr="Nations Approve Landmark Climate Accord in Paris - The New York Times">
            <a:extLst>
              <a:ext uri="{FF2B5EF4-FFF2-40B4-BE49-F238E27FC236}">
                <a16:creationId xmlns:a16="http://schemas.microsoft.com/office/drawing/2014/main" id="{A6D5D7A8-9753-05CE-66E5-C0DFE85EA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005" y="195942"/>
            <a:ext cx="4443989" cy="249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41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6EA4-AA7A-15D8-D77C-6F184160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Trump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E2CBE-A151-59DA-D23C-C4D286FDC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Environmental Views are now proxy for political affiliation</a:t>
            </a:r>
          </a:p>
          <a:p>
            <a:r>
              <a:rPr lang="en-US" dirty="0"/>
              <a:t>Ran for president on premise that climate change was a “Chinese Hoax”</a:t>
            </a:r>
          </a:p>
          <a:p>
            <a:r>
              <a:rPr lang="en-US" dirty="0"/>
              <a:t>Instantly undid Obama’s climate policies upon taking office and withdrew from Paris Climate Agreement</a:t>
            </a:r>
          </a:p>
          <a:p>
            <a:r>
              <a:rPr lang="en-US" dirty="0"/>
              <a:t>Rolled back fuel efficiency standards</a:t>
            </a:r>
          </a:p>
        </p:txBody>
      </p:sp>
    </p:spTree>
    <p:extLst>
      <p:ext uri="{BB962C8B-B14F-4D97-AF65-F5344CB8AC3E}">
        <p14:creationId xmlns:p14="http://schemas.microsoft.com/office/powerpoint/2010/main" val="1311338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4DA1-6437-8802-0325-D1449330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Biden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5FC0A-05A6-A0D1-3FFD-A3B776FC5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Paris Agreement requires signers to recommit every 5 years and update their emissions reduction plans</a:t>
            </a:r>
          </a:p>
          <a:p>
            <a:pPr lvl="1"/>
            <a:r>
              <a:rPr lang="en-US" dirty="0"/>
              <a:t>China, Japan, South Korea, and EU/UK would be “Net Zero” by 2050 or 2060</a:t>
            </a:r>
          </a:p>
          <a:p>
            <a:pPr lvl="1"/>
            <a:endParaRPr lang="en-US" dirty="0"/>
          </a:p>
          <a:p>
            <a:r>
              <a:rPr lang="en-US" dirty="0"/>
              <a:t>Biden rejoined the Paris Agreement almost instantly</a:t>
            </a:r>
          </a:p>
          <a:p>
            <a:pPr lvl="1"/>
            <a:r>
              <a:rPr lang="en-US" dirty="0"/>
              <a:t>Committed US to reach “net zero” by “mid century”</a:t>
            </a:r>
          </a:p>
          <a:p>
            <a:r>
              <a:rPr lang="en-US" dirty="0"/>
              <a:t>Climate action</a:t>
            </a:r>
          </a:p>
          <a:p>
            <a:pPr lvl="1"/>
            <a:r>
              <a:rPr lang="en-US" dirty="0"/>
              <a:t>Included climate reduction strategies into “Inflation Reduction Act”</a:t>
            </a:r>
          </a:p>
          <a:p>
            <a:pPr lvl="1"/>
            <a:r>
              <a:rPr lang="en-US" dirty="0"/>
              <a:t>Increased standards for vehicles, power production, and industry</a:t>
            </a:r>
          </a:p>
          <a:p>
            <a:pPr lvl="1"/>
            <a:r>
              <a:rPr lang="en-US" dirty="0"/>
              <a:t>Achieved cutting emissions by 50% from 2005 levels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93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10591</TotalTime>
  <Words>4292</Words>
  <Application>Microsoft Office PowerPoint</Application>
  <PresentationFormat>Widescreen</PresentationFormat>
  <Paragraphs>409</Paragraphs>
  <Slides>66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ＭＳ Ｐゴシック</vt:lpstr>
      <vt:lpstr>Arial</vt:lpstr>
      <vt:lpstr>Calibri</vt:lpstr>
      <vt:lpstr>Calibri Light</vt:lpstr>
      <vt:lpstr>ReithSans</vt:lpstr>
      <vt:lpstr>SourceSansPro</vt:lpstr>
      <vt:lpstr>Wingdings</vt:lpstr>
      <vt:lpstr>Office Theme</vt:lpstr>
      <vt:lpstr>Mitigation and Adaptation to Climate Change</vt:lpstr>
      <vt:lpstr>How can we address climate change? </vt:lpstr>
      <vt:lpstr>Stabilization Wedges</vt:lpstr>
      <vt:lpstr>Stabilization Wedges Could Work Now</vt:lpstr>
      <vt:lpstr>Adaptation</vt:lpstr>
      <vt:lpstr>PowerPoint Presentation</vt:lpstr>
      <vt:lpstr>Adaptation</vt:lpstr>
      <vt:lpstr>Adaptation</vt:lpstr>
      <vt:lpstr>Adaptation</vt:lpstr>
      <vt:lpstr>What does Government Policy for Adaptation Look like?</vt:lpstr>
      <vt:lpstr>Adaptation and Equity</vt:lpstr>
      <vt:lpstr>Example: Hurricane Katrina</vt:lpstr>
      <vt:lpstr>Addressing the Inequity of Climate Adaptation</vt:lpstr>
      <vt:lpstr>Mitigation</vt:lpstr>
      <vt:lpstr>Reducing Emission</vt:lpstr>
      <vt:lpstr>Timeline Problem of Mitigation</vt:lpstr>
      <vt:lpstr>How do we move away from fossil fuels</vt:lpstr>
      <vt:lpstr>What about energy efficiency?</vt:lpstr>
      <vt:lpstr>Energy Efficiency in transportation and buildings</vt:lpstr>
      <vt:lpstr>The Switch to Renewables Humans Use 15TW of Energy annually</vt:lpstr>
      <vt:lpstr>PowerPoint Presentation</vt:lpstr>
      <vt:lpstr>What needs to happen for the fossil fuel to renewable switch to become a reality</vt:lpstr>
      <vt:lpstr>What about Carbon Capture and Sequestration</vt:lpstr>
      <vt:lpstr>Carbon Capture and Sequestration – Some problems with this!</vt:lpstr>
      <vt:lpstr>Geoengineer</vt:lpstr>
      <vt:lpstr>Solar Radiation Management</vt:lpstr>
      <vt:lpstr>Solar Radiation Management</vt:lpstr>
      <vt:lpstr>Solar Radiation Management</vt:lpstr>
      <vt:lpstr>Solar Radiation Management</vt:lpstr>
      <vt:lpstr>Solar Radiation Management </vt:lpstr>
      <vt:lpstr>Solar Radiation Management </vt:lpstr>
      <vt:lpstr>Geoengineering Carbon Dioxide Removal</vt:lpstr>
      <vt:lpstr>Planting trees isn’t geoengineering, but…</vt:lpstr>
      <vt:lpstr>Planting Trees vs. Geoengineering Carbon Removal</vt:lpstr>
      <vt:lpstr>Fertilizing the Ocean</vt:lpstr>
      <vt:lpstr>Removing Carbon</vt:lpstr>
      <vt:lpstr>PowerPoint Presentation</vt:lpstr>
      <vt:lpstr>Government Policy Approaches to Climate Change</vt:lpstr>
      <vt:lpstr>Government Regulation vs. Free Market</vt:lpstr>
      <vt:lpstr>Why Free Markets will only lead to more climate change</vt:lpstr>
      <vt:lpstr>Why Free Markets will only lead to more climate change</vt:lpstr>
      <vt:lpstr>Regulation</vt:lpstr>
      <vt:lpstr>PowerPoint Presentation</vt:lpstr>
      <vt:lpstr>Market Based Regulations</vt:lpstr>
      <vt:lpstr>Market Based Incentives</vt:lpstr>
      <vt:lpstr>Cap and Trade</vt:lpstr>
      <vt:lpstr>Cap and Trade</vt:lpstr>
      <vt:lpstr>Cap and Trade vs Carbon Tax</vt:lpstr>
      <vt:lpstr>Cap and Trade vs Carbon Tax</vt:lpstr>
      <vt:lpstr>PowerPoint Presentation</vt:lpstr>
      <vt:lpstr>Carbon Offsets</vt:lpstr>
      <vt:lpstr>Carbon Offsets</vt:lpstr>
      <vt:lpstr>Carbon Offsets</vt:lpstr>
      <vt:lpstr>Other Financial Mechanisms to Address Climate Change</vt:lpstr>
      <vt:lpstr>PowerPoint Presentation</vt:lpstr>
      <vt:lpstr>Government Action - Information</vt:lpstr>
      <vt:lpstr>Here is who is responsible for 1/3 of all emissions</vt:lpstr>
      <vt:lpstr>Here is what you have been convinced to focus your attention on instead of the 100 companies causing 70% of all climate emission</vt:lpstr>
      <vt:lpstr>PowerPoint Presentation</vt:lpstr>
      <vt:lpstr>Climate Conventions</vt:lpstr>
      <vt:lpstr>Climate Conventions</vt:lpstr>
      <vt:lpstr>The George W Bush Years</vt:lpstr>
      <vt:lpstr>The Obama Years</vt:lpstr>
      <vt:lpstr>The Obama Years</vt:lpstr>
      <vt:lpstr>The Trump Years</vt:lpstr>
      <vt:lpstr>The Biden Years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Mitigation and Adaptation to Climate Change</dc:title>
  <dc:creator>greg murphy</dc:creator>
  <cp:lastModifiedBy>Reichert, Krista</cp:lastModifiedBy>
  <cp:revision>5</cp:revision>
  <dcterms:created xsi:type="dcterms:W3CDTF">2023-04-09T21:05:46Z</dcterms:created>
  <dcterms:modified xsi:type="dcterms:W3CDTF">2024-04-24T21:12:14Z</dcterms:modified>
</cp:coreProperties>
</file>